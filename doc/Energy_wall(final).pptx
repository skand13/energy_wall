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embeddedFontLst>
    <p:embeddedFont>
      <p:font typeface="DM Sans ExtraBold"/>
      <p:bold r:id="rId48"/>
      <p:boldItalic r:id="rId49"/>
    </p:embeddedFont>
    <p:embeddedFont>
      <p:font typeface="Bebas Neue"/>
      <p:regular r:id="rId50"/>
    </p:embeddedFont>
    <p:embeddedFont>
      <p:font typeface="Albert Sans"/>
      <p:regular r:id="rId51"/>
      <p:bold r:id="rId52"/>
      <p:italic r:id="rId53"/>
      <p:boldItalic r:id="rId54"/>
    </p:embeddedFont>
    <p:embeddedFont>
      <p:font typeface="Arapey"/>
      <p:regular r:id="rId55"/>
      <p:italic r:id="rId56"/>
    </p:embeddedFont>
    <p:embeddedFont>
      <p:font typeface="Be Vietnam Pro"/>
      <p:regular r:id="rId57"/>
      <p:bold r:id="rId58"/>
      <p:italic r:id="rId59"/>
      <p:boldItalic r:id="rId60"/>
    </p:embeddedFont>
    <p:embeddedFont>
      <p:font typeface="PT Sans"/>
      <p:regular r:id="rId61"/>
      <p:bold r:id="rId62"/>
      <p:italic r:id="rId63"/>
      <p:boldItalic r:id="rId64"/>
    </p:embeddedFont>
    <p:embeddedFont>
      <p:font typeface="DM Sans"/>
      <p:regular r:id="rId65"/>
      <p:bold r:id="rId66"/>
      <p:italic r:id="rId67"/>
      <p:boldItalic r:id="rId68"/>
    </p:embeddedFont>
    <p:embeddedFont>
      <p:font typeface="Archivo Black"/>
      <p:regular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E34720-A6A5-43E9-A703-15E4663B0DA9}">
  <a:tblStyle styleId="{A1E34720-A6A5-43E9-A703-15E4663B0DA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DMSansExtraBold-bold.fntdata"/><Relationship Id="rId47" Type="http://schemas.openxmlformats.org/officeDocument/2006/relationships/slide" Target="slides/slide41.xml"/><Relationship Id="rId49" Type="http://schemas.openxmlformats.org/officeDocument/2006/relationships/font" Target="fonts/DMSansExtra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PTSans-bold.fntdata"/><Relationship Id="rId61" Type="http://schemas.openxmlformats.org/officeDocument/2006/relationships/font" Target="fonts/PTSans-regular.fntdata"/><Relationship Id="rId20" Type="http://schemas.openxmlformats.org/officeDocument/2006/relationships/slide" Target="slides/slide14.xml"/><Relationship Id="rId64" Type="http://schemas.openxmlformats.org/officeDocument/2006/relationships/font" Target="fonts/PTSans-boldItalic.fntdata"/><Relationship Id="rId63" Type="http://schemas.openxmlformats.org/officeDocument/2006/relationships/font" Target="fonts/PTSans-italic.fntdata"/><Relationship Id="rId22" Type="http://schemas.openxmlformats.org/officeDocument/2006/relationships/slide" Target="slides/slide16.xml"/><Relationship Id="rId66" Type="http://schemas.openxmlformats.org/officeDocument/2006/relationships/font" Target="fonts/DMSans-bold.fntdata"/><Relationship Id="rId21" Type="http://schemas.openxmlformats.org/officeDocument/2006/relationships/slide" Target="slides/slide15.xml"/><Relationship Id="rId65" Type="http://schemas.openxmlformats.org/officeDocument/2006/relationships/font" Target="fonts/DMSans-regular.fntdata"/><Relationship Id="rId24" Type="http://schemas.openxmlformats.org/officeDocument/2006/relationships/slide" Target="slides/slide18.xml"/><Relationship Id="rId68" Type="http://schemas.openxmlformats.org/officeDocument/2006/relationships/font" Target="fonts/DMSans-boldItalic.fntdata"/><Relationship Id="rId23" Type="http://schemas.openxmlformats.org/officeDocument/2006/relationships/slide" Target="slides/slide17.xml"/><Relationship Id="rId67" Type="http://schemas.openxmlformats.org/officeDocument/2006/relationships/font" Target="fonts/DMSans-italic.fntdata"/><Relationship Id="rId60" Type="http://schemas.openxmlformats.org/officeDocument/2006/relationships/font" Target="fonts/BeVietnamPro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ArchivoBlack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AlbertSans-regular.fntdata"/><Relationship Id="rId50" Type="http://schemas.openxmlformats.org/officeDocument/2006/relationships/font" Target="fonts/BebasNeue-regular.fntdata"/><Relationship Id="rId53" Type="http://schemas.openxmlformats.org/officeDocument/2006/relationships/font" Target="fonts/AlbertSans-italic.fntdata"/><Relationship Id="rId52" Type="http://schemas.openxmlformats.org/officeDocument/2006/relationships/font" Target="fonts/AlbertSans-bold.fntdata"/><Relationship Id="rId11" Type="http://schemas.openxmlformats.org/officeDocument/2006/relationships/slide" Target="slides/slide5.xml"/><Relationship Id="rId55" Type="http://schemas.openxmlformats.org/officeDocument/2006/relationships/font" Target="fonts/Arapey-regular.fntdata"/><Relationship Id="rId10" Type="http://schemas.openxmlformats.org/officeDocument/2006/relationships/slide" Target="slides/slide4.xml"/><Relationship Id="rId54" Type="http://schemas.openxmlformats.org/officeDocument/2006/relationships/font" Target="fonts/AlbertSans-boldItalic.fntdata"/><Relationship Id="rId13" Type="http://schemas.openxmlformats.org/officeDocument/2006/relationships/slide" Target="slides/slide7.xml"/><Relationship Id="rId57" Type="http://schemas.openxmlformats.org/officeDocument/2006/relationships/font" Target="fonts/BeVietnamPro-regular.fntdata"/><Relationship Id="rId12" Type="http://schemas.openxmlformats.org/officeDocument/2006/relationships/slide" Target="slides/slide6.xml"/><Relationship Id="rId56" Type="http://schemas.openxmlformats.org/officeDocument/2006/relationships/font" Target="fonts/Arapey-italic.fntdata"/><Relationship Id="rId15" Type="http://schemas.openxmlformats.org/officeDocument/2006/relationships/slide" Target="slides/slide9.xml"/><Relationship Id="rId59" Type="http://schemas.openxmlformats.org/officeDocument/2006/relationships/font" Target="fonts/BeVietnamPro-italic.fntdata"/><Relationship Id="rId14" Type="http://schemas.openxmlformats.org/officeDocument/2006/relationships/slide" Target="slides/slide8.xml"/><Relationship Id="rId58" Type="http://schemas.openxmlformats.org/officeDocument/2006/relationships/font" Target="fonts/BeVietnamPr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5f62d7e088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5f62d7e088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4256f35a8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b4256f35a8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3b179bbe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b3b179bbe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3eed24e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b3eed24e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b4256f35a8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b4256f35a8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3eed24e0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b3eed24e0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3eed24e0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b3eed24e0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b482d29f4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b482d29f4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b4256f35a8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b4256f35a8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b482d29f4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b482d29f4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3eed24e0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b3eed24e0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b4256f35a8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b4256f35a8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4256f35a8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b4256f35a8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b3eed24e0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b3eed24e0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b3eed24e0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b3eed24e0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b4256f35a8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b4256f35a8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4256f35a8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b4256f35a8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4256f35a8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b4256f35a8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d5260bdd85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d5260bdd8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b4256f35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b4256f35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4256f35a8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b4256f35a8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Investissements en forte croissance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Logique “too big to fail”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Dépendance des acteurs économiques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b4256f35a8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b4256f35a8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b4256f35a8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b4256f35a8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b4256f35a8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b4256f35a8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b4256f35a8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b4256f35a8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Investissements en forte croissance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Logique “too big to fail”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Dépendance des acteurs économiques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b4256f35a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b4256f35a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Investissements en forte croissance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Logique “too big to fail”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Dépendance des acteurs économiques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4256f35a8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b4256f35a8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Investissements en forte croissance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Logique “too big to fail”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Dépendance des acteurs économiques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b4256f35a8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b4256f35a8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Investissements en forte croissance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Logique “too big to fail”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Dépendance des acteurs économiques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b4256f35a8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b4256f35a8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Investissements en forte croissance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Logique “too big to fail”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Dépendance des acteurs économiques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b4256f35a8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b4256f35a8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Investissements en forte croissance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Logique “too big to fail”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Dépendance des acteurs économiques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b4256f35a8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b4256f35a8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Investissements en forte croissance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Logique “too big to fail”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Dépendance des acteurs économiques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b4256f35a8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b4256f35a8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b4256f35a8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b4256f35a8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b4256f35a8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b4256f35a8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b482d29f4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b482d29f4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b482d29f4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b482d29f4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b482d29f4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b482d29f4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SKANDER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bit.ly/3A1uf1Q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237" r="997" t="0"/>
          <a:stretch/>
        </p:blipFill>
        <p:spPr>
          <a:xfrm flipH="1" rot="10800000">
            <a:off x="0" y="-6974"/>
            <a:ext cx="9164600" cy="514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 amt="50000"/>
          </a:blip>
          <a:srcRect b="0" l="771" r="6256" t="0"/>
          <a:stretch/>
        </p:blipFill>
        <p:spPr>
          <a:xfrm flipH="1" rot="10800000">
            <a:off x="-58300" y="-6974"/>
            <a:ext cx="9279201" cy="52126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1958400" y="1392800"/>
            <a:ext cx="5227200" cy="1586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958400" y="3206800"/>
            <a:ext cx="5227200" cy="54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ctor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0" l="239" r="59" t="0"/>
          <a:stretch/>
        </p:blipFill>
        <p:spPr>
          <a:xfrm rot="10800000">
            <a:off x="-2000" y="-6975"/>
            <a:ext cx="9144003" cy="5149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 amt="50000"/>
          </a:blip>
          <a:srcRect b="0" l="1159" r="6102" t="0"/>
          <a:stretch/>
        </p:blipFill>
        <p:spPr>
          <a:xfrm rot="10800000">
            <a:off x="0" y="-6975"/>
            <a:ext cx="9144003" cy="51494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713225" y="2347250"/>
            <a:ext cx="4370700" cy="1305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713225" y="802175"/>
            <a:ext cx="1775400" cy="123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713225" y="3960700"/>
            <a:ext cx="4370700" cy="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b="0" l="239" r="59" t="0"/>
          <a:stretch/>
        </p:blipFill>
        <p:spPr>
          <a:xfrm rot="10800000">
            <a:off x="-2000" y="-6975"/>
            <a:ext cx="9144003" cy="5149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4"/>
          <p:cNvPicPr preferRelativeResize="0"/>
          <p:nvPr/>
        </p:nvPicPr>
        <p:blipFill rotWithShape="1">
          <a:blip r:embed="rId3">
            <a:alphaModFix amt="50000"/>
          </a:blip>
          <a:srcRect b="0" l="28403" r="7263" t="0"/>
          <a:stretch/>
        </p:blipFill>
        <p:spPr>
          <a:xfrm rot="10800000">
            <a:off x="2805499" y="-6974"/>
            <a:ext cx="6343276" cy="514944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>
            <a:off x="1339719" y="3344908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7544343" y="3535034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7567628" y="3541624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7573120" y="3543821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1339741" y="3348571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7544355" y="3538697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7567640" y="3545287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7573132" y="3547483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726600" y="1017725"/>
            <a:ext cx="77040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 rotWithShape="1">
          <a:blip r:embed="rId2">
            <a:alphaModFix/>
          </a:blip>
          <a:srcRect b="0" l="415" r="682" t="0"/>
          <a:stretch/>
        </p:blipFill>
        <p:spPr>
          <a:xfrm flipH="1" rot="5400000">
            <a:off x="1982013" y="-1990987"/>
            <a:ext cx="5188700" cy="915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/>
          <p:cNvPicPr preferRelativeResize="0"/>
          <p:nvPr/>
        </p:nvPicPr>
        <p:blipFill rotWithShape="1">
          <a:blip r:embed="rId3">
            <a:alphaModFix amt="50000"/>
          </a:blip>
          <a:srcRect b="-7604" l="15471" r="5794" t="51396"/>
          <a:stretch/>
        </p:blipFill>
        <p:spPr>
          <a:xfrm>
            <a:off x="0" y="-69150"/>
            <a:ext cx="7763599" cy="289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1339719" y="3344908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7544343" y="3535034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567628" y="3541624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7573120" y="3543821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1339741" y="3348571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7544355" y="3538697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7567640" y="3545287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7573132" y="3547483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" type="subTitle"/>
          </p:nvPr>
        </p:nvSpPr>
        <p:spPr>
          <a:xfrm>
            <a:off x="6716250" y="2779750"/>
            <a:ext cx="1478700" cy="1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2" type="subTitle"/>
          </p:nvPr>
        </p:nvSpPr>
        <p:spPr>
          <a:xfrm>
            <a:off x="3035694" y="2779750"/>
            <a:ext cx="1478700" cy="1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3" type="subTitle"/>
          </p:nvPr>
        </p:nvSpPr>
        <p:spPr>
          <a:xfrm>
            <a:off x="6716250" y="1946050"/>
            <a:ext cx="1478700" cy="8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idx="4" type="subTitle"/>
          </p:nvPr>
        </p:nvSpPr>
        <p:spPr>
          <a:xfrm>
            <a:off x="3035550" y="1946050"/>
            <a:ext cx="1478700" cy="8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6"/>
          <p:cNvPicPr preferRelativeResize="0"/>
          <p:nvPr/>
        </p:nvPicPr>
        <p:blipFill rotWithShape="1">
          <a:blip r:embed="rId2">
            <a:alphaModFix/>
          </a:blip>
          <a:srcRect b="0" l="421" r="-671" t="0"/>
          <a:stretch/>
        </p:blipFill>
        <p:spPr>
          <a:xfrm flipH="1" rot="5400000">
            <a:off x="1954626" y="-2018374"/>
            <a:ext cx="5243474" cy="915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6"/>
          <p:cNvPicPr preferRelativeResize="0"/>
          <p:nvPr/>
        </p:nvPicPr>
        <p:blipFill rotWithShape="1">
          <a:blip r:embed="rId3">
            <a:alphaModFix amt="50000"/>
          </a:blip>
          <a:srcRect b="83865" l="1158" r="46640" t="0"/>
          <a:stretch/>
        </p:blipFill>
        <p:spPr>
          <a:xfrm rot="-5400000">
            <a:off x="6168427" y="2192801"/>
            <a:ext cx="5146998" cy="83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6"/>
          <p:cNvPicPr preferRelativeResize="0"/>
          <p:nvPr/>
        </p:nvPicPr>
        <p:blipFill rotWithShape="1">
          <a:blip r:embed="rId3">
            <a:alphaModFix amt="50000"/>
          </a:blip>
          <a:srcRect b="-7606" l="15471" r="5794" t="60448"/>
          <a:stretch/>
        </p:blipFill>
        <p:spPr>
          <a:xfrm>
            <a:off x="0" y="0"/>
            <a:ext cx="7763599" cy="24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1339719" y="3344908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7544343" y="3535034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7567628" y="3541624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 rotWithShape="1">
          <a:blip r:embed="rId2">
            <a:alphaModFix/>
          </a:blip>
          <a:srcRect b="1597" l="2006" r="1085" t="1597"/>
          <a:stretch/>
        </p:blipFill>
        <p:spPr>
          <a:xfrm flipH="1" rot="5400000">
            <a:off x="1982013" y="-2006612"/>
            <a:ext cx="5188700" cy="915672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>
            <a:off x="1339719" y="3344908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7544343" y="3535034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7567628" y="3541624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7573120" y="3543821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1339741" y="3348571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7544355" y="3538697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7567640" y="3545287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7573132" y="3547483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 txBox="1"/>
          <p:nvPr>
            <p:ph type="title"/>
          </p:nvPr>
        </p:nvSpPr>
        <p:spPr>
          <a:xfrm>
            <a:off x="713225" y="445025"/>
            <a:ext cx="2963100" cy="12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713225" y="1905850"/>
            <a:ext cx="4058700" cy="21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68" name="Google Shape;68;p7"/>
          <p:cNvPicPr preferRelativeResize="0"/>
          <p:nvPr/>
        </p:nvPicPr>
        <p:blipFill rotWithShape="1">
          <a:blip r:embed="rId3">
            <a:alphaModFix amt="50000"/>
          </a:blip>
          <a:srcRect b="79211" l="1158" r="46640" t="764"/>
          <a:stretch/>
        </p:blipFill>
        <p:spPr>
          <a:xfrm rot="-5400000">
            <a:off x="6077699" y="2071899"/>
            <a:ext cx="5188577" cy="10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7"/>
          <p:cNvPicPr preferRelativeResize="0"/>
          <p:nvPr/>
        </p:nvPicPr>
        <p:blipFill rotWithShape="1">
          <a:blip r:embed="rId3">
            <a:alphaModFix amt="50000"/>
          </a:blip>
          <a:srcRect b="-7604" l="15472" r="7163" t="60312"/>
          <a:stretch/>
        </p:blipFill>
        <p:spPr>
          <a:xfrm>
            <a:off x="0" y="-6850"/>
            <a:ext cx="7628099" cy="243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8"/>
          <p:cNvPicPr preferRelativeResize="0"/>
          <p:nvPr/>
        </p:nvPicPr>
        <p:blipFill rotWithShape="1">
          <a:blip r:embed="rId2">
            <a:alphaModFix/>
          </a:blip>
          <a:srcRect b="-361" l="10977" r="57915" t="0"/>
          <a:stretch/>
        </p:blipFill>
        <p:spPr>
          <a:xfrm flipH="1" rot="-5400000">
            <a:off x="2000750" y="-2010625"/>
            <a:ext cx="5175199" cy="91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8"/>
          <p:cNvPicPr preferRelativeResize="0"/>
          <p:nvPr/>
        </p:nvPicPr>
        <p:blipFill rotWithShape="1">
          <a:blip r:embed="rId3">
            <a:alphaModFix amt="50000"/>
          </a:blip>
          <a:srcRect b="-92178" l="7181" r="31013" t="26478"/>
          <a:stretch/>
        </p:blipFill>
        <p:spPr>
          <a:xfrm flipH="1" rot="-5400000">
            <a:off x="893463" y="-893463"/>
            <a:ext cx="5187599" cy="69745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type="title"/>
          </p:nvPr>
        </p:nvSpPr>
        <p:spPr>
          <a:xfrm>
            <a:off x="1769875" y="1657350"/>
            <a:ext cx="5604000" cy="1828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 rotWithShape="1">
          <a:blip r:embed="rId2">
            <a:alphaModFix/>
          </a:blip>
          <a:srcRect b="0" l="133" r="68732" t="0"/>
          <a:stretch/>
        </p:blipFill>
        <p:spPr>
          <a:xfrm rot="5400000">
            <a:off x="1982212" y="-1996462"/>
            <a:ext cx="5179576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9"/>
          <p:cNvPicPr preferRelativeResize="0"/>
          <p:nvPr/>
        </p:nvPicPr>
        <p:blipFill rotWithShape="1">
          <a:blip r:embed="rId3">
            <a:alphaModFix amt="50000"/>
          </a:blip>
          <a:srcRect b="-125054" l="10083" r="28317" t="7568"/>
          <a:stretch/>
        </p:blipFill>
        <p:spPr>
          <a:xfrm rot="5400000">
            <a:off x="2702851" y="-1996463"/>
            <a:ext cx="516474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/>
          <p:nvPr/>
        </p:nvSpPr>
        <p:spPr>
          <a:xfrm>
            <a:off x="1339719" y="3344908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"/>
          <p:cNvSpPr/>
          <p:nvPr/>
        </p:nvSpPr>
        <p:spPr>
          <a:xfrm>
            <a:off x="1339741" y="3348571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9"/>
          <p:cNvSpPr txBox="1"/>
          <p:nvPr>
            <p:ph type="title"/>
          </p:nvPr>
        </p:nvSpPr>
        <p:spPr>
          <a:xfrm>
            <a:off x="1577742" y="1430325"/>
            <a:ext cx="5429100" cy="1117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" type="subTitle"/>
          </p:nvPr>
        </p:nvSpPr>
        <p:spPr>
          <a:xfrm>
            <a:off x="1577725" y="2620775"/>
            <a:ext cx="5429100" cy="1117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>
            <p:ph idx="2" type="pic"/>
          </p:nvPr>
        </p:nvSpPr>
        <p:spPr>
          <a:xfrm>
            <a:off x="0" y="-6975"/>
            <a:ext cx="9144000" cy="51483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/>
          <p:nvPr>
            <p:ph type="title"/>
          </p:nvPr>
        </p:nvSpPr>
        <p:spPr>
          <a:xfrm>
            <a:off x="3867150" y="3327800"/>
            <a:ext cx="4563300" cy="12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1"/>
          <p:cNvPicPr preferRelativeResize="0"/>
          <p:nvPr/>
        </p:nvPicPr>
        <p:blipFill rotWithShape="1">
          <a:blip r:embed="rId2">
            <a:alphaModFix/>
          </a:blip>
          <a:srcRect b="0" l="420" r="-520" t="0"/>
          <a:stretch/>
        </p:blipFill>
        <p:spPr>
          <a:xfrm flipH="1" rot="-5400000">
            <a:off x="1984013" y="-1990987"/>
            <a:ext cx="5188700" cy="915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1"/>
          <p:cNvPicPr preferRelativeResize="0"/>
          <p:nvPr/>
        </p:nvPicPr>
        <p:blipFill rotWithShape="1">
          <a:blip r:embed="rId3">
            <a:alphaModFix amt="50000"/>
          </a:blip>
          <a:srcRect b="51453" l="1158" r="46640" t="0"/>
          <a:stretch/>
        </p:blipFill>
        <p:spPr>
          <a:xfrm rot="5400000">
            <a:off x="-1325560" y="1316587"/>
            <a:ext cx="5146998" cy="24998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1"/>
          <p:cNvSpPr txBox="1"/>
          <p:nvPr>
            <p:ph hasCustomPrompt="1" type="title"/>
          </p:nvPr>
        </p:nvSpPr>
        <p:spPr>
          <a:xfrm>
            <a:off x="2095500" y="1669713"/>
            <a:ext cx="4953000" cy="11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8" name="Google Shape;88;p11"/>
          <p:cNvSpPr txBox="1"/>
          <p:nvPr>
            <p:ph idx="1" type="subTitle"/>
          </p:nvPr>
        </p:nvSpPr>
        <p:spPr>
          <a:xfrm>
            <a:off x="2095500" y="2976688"/>
            <a:ext cx="4953000" cy="497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 rotWithShape="1">
          <a:blip r:embed="rId2">
            <a:alphaModFix/>
          </a:blip>
          <a:srcRect b="0" l="420" r="-520" t="0"/>
          <a:stretch/>
        </p:blipFill>
        <p:spPr>
          <a:xfrm rot="5400000">
            <a:off x="1982013" y="-1990987"/>
            <a:ext cx="5188700" cy="915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 amt="50000"/>
          </a:blip>
          <a:srcRect b="51453" l="1158" r="46640" t="0"/>
          <a:stretch/>
        </p:blipFill>
        <p:spPr>
          <a:xfrm rot="5400000">
            <a:off x="-1331436" y="1316587"/>
            <a:ext cx="5146998" cy="24998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>
            <p:ph type="title"/>
          </p:nvPr>
        </p:nvSpPr>
        <p:spPr>
          <a:xfrm>
            <a:off x="1021075" y="445025"/>
            <a:ext cx="683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 flipH="1">
            <a:off x="2506938" y="3363975"/>
            <a:ext cx="5532000" cy="324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2" type="subTitle"/>
          </p:nvPr>
        </p:nvSpPr>
        <p:spPr>
          <a:xfrm>
            <a:off x="2506938" y="1628575"/>
            <a:ext cx="5532000" cy="324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3" type="subTitle"/>
          </p:nvPr>
        </p:nvSpPr>
        <p:spPr>
          <a:xfrm flipH="1">
            <a:off x="2506938" y="4231675"/>
            <a:ext cx="5532000" cy="324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4" type="subTitle"/>
          </p:nvPr>
        </p:nvSpPr>
        <p:spPr>
          <a:xfrm>
            <a:off x="2506938" y="2496275"/>
            <a:ext cx="5532000" cy="324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hasCustomPrompt="1" idx="5" type="title"/>
          </p:nvPr>
        </p:nvSpPr>
        <p:spPr>
          <a:xfrm flipH="1">
            <a:off x="1104937" y="3014425"/>
            <a:ext cx="1146600" cy="67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/>
          <p:nvPr>
            <p:ph hasCustomPrompt="1" idx="6" type="title"/>
          </p:nvPr>
        </p:nvSpPr>
        <p:spPr>
          <a:xfrm flipH="1">
            <a:off x="1104937" y="3882125"/>
            <a:ext cx="1146600" cy="67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/>
          <p:nvPr>
            <p:ph hasCustomPrompt="1" idx="7" type="title"/>
          </p:nvPr>
        </p:nvSpPr>
        <p:spPr>
          <a:xfrm>
            <a:off x="1104962" y="1279025"/>
            <a:ext cx="1146600" cy="67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/>
          <p:nvPr>
            <p:ph hasCustomPrompt="1" idx="8" type="title"/>
          </p:nvPr>
        </p:nvSpPr>
        <p:spPr>
          <a:xfrm>
            <a:off x="1104962" y="2146725"/>
            <a:ext cx="1146600" cy="67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/>
          <p:nvPr>
            <p:ph idx="9" type="subTitle"/>
          </p:nvPr>
        </p:nvSpPr>
        <p:spPr>
          <a:xfrm flipH="1">
            <a:off x="2506938" y="3014425"/>
            <a:ext cx="5532000" cy="436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9pPr>
          </a:lstStyle>
          <a:p/>
        </p:txBody>
      </p:sp>
      <p:sp>
        <p:nvSpPr>
          <p:cNvPr id="103" name="Google Shape;103;p13"/>
          <p:cNvSpPr txBox="1"/>
          <p:nvPr>
            <p:ph idx="13" type="subTitle"/>
          </p:nvPr>
        </p:nvSpPr>
        <p:spPr>
          <a:xfrm>
            <a:off x="2506938" y="1279025"/>
            <a:ext cx="5532000" cy="436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9pPr>
          </a:lstStyle>
          <a:p/>
        </p:txBody>
      </p:sp>
      <p:sp>
        <p:nvSpPr>
          <p:cNvPr id="104" name="Google Shape;104;p13"/>
          <p:cNvSpPr txBox="1"/>
          <p:nvPr>
            <p:ph idx="14" type="subTitle"/>
          </p:nvPr>
        </p:nvSpPr>
        <p:spPr>
          <a:xfrm flipH="1">
            <a:off x="2506938" y="3882125"/>
            <a:ext cx="5532000" cy="436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9pPr>
          </a:lstStyle>
          <a:p/>
        </p:txBody>
      </p:sp>
      <p:sp>
        <p:nvSpPr>
          <p:cNvPr id="105" name="Google Shape;105;p13"/>
          <p:cNvSpPr txBox="1"/>
          <p:nvPr>
            <p:ph idx="15" type="subTitle"/>
          </p:nvPr>
        </p:nvSpPr>
        <p:spPr>
          <a:xfrm>
            <a:off x="2506938" y="2146725"/>
            <a:ext cx="5532000" cy="436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apey"/>
              <a:buNone/>
              <a:defRPr sz="2400">
                <a:latin typeface="Arapey"/>
                <a:ea typeface="Arapey"/>
                <a:cs typeface="Arapey"/>
                <a:sym typeface="Arapey"/>
              </a:defRPr>
            </a:lvl9pPr>
          </a:lstStyle>
          <a:p/>
        </p:txBody>
      </p:sp>
      <p:sp>
        <p:nvSpPr>
          <p:cNvPr id="106" name="Google Shape;106;p13"/>
          <p:cNvSpPr/>
          <p:nvPr/>
        </p:nvSpPr>
        <p:spPr>
          <a:xfrm>
            <a:off x="1339719" y="3344908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3"/>
          <p:cNvSpPr/>
          <p:nvPr/>
        </p:nvSpPr>
        <p:spPr>
          <a:xfrm>
            <a:off x="7544343" y="3535034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3"/>
          <p:cNvSpPr/>
          <p:nvPr/>
        </p:nvSpPr>
        <p:spPr>
          <a:xfrm>
            <a:off x="7567628" y="3541624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7573120" y="3543821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>
            <a:off x="1339741" y="3348571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3"/>
          <p:cNvSpPr/>
          <p:nvPr/>
        </p:nvSpPr>
        <p:spPr>
          <a:xfrm>
            <a:off x="7544355" y="3538697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7567640" y="3545287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7573132" y="3547483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420" r="-520" t="0"/>
          <a:stretch/>
        </p:blipFill>
        <p:spPr>
          <a:xfrm flipH="1" rot="-5400000">
            <a:off x="1984013" y="-1990987"/>
            <a:ext cx="5188700" cy="915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/>
          <p:cNvPicPr preferRelativeResize="0"/>
          <p:nvPr/>
        </p:nvPicPr>
        <p:blipFill rotWithShape="1">
          <a:blip r:embed="rId3">
            <a:alphaModFix amt="50000"/>
          </a:blip>
          <a:srcRect b="51453" l="1158" r="46640" t="0"/>
          <a:stretch/>
        </p:blipFill>
        <p:spPr>
          <a:xfrm flipH="1" rot="-5400000">
            <a:off x="5333290" y="1316587"/>
            <a:ext cx="5146998" cy="249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1339719" y="3344908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1339741" y="3348571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4"/>
          <p:cNvSpPr txBox="1"/>
          <p:nvPr>
            <p:ph type="title"/>
          </p:nvPr>
        </p:nvSpPr>
        <p:spPr>
          <a:xfrm>
            <a:off x="1225199" y="3724175"/>
            <a:ext cx="6693300" cy="53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" name="Google Shape;120;p14"/>
          <p:cNvSpPr txBox="1"/>
          <p:nvPr>
            <p:ph idx="1" type="subTitle"/>
          </p:nvPr>
        </p:nvSpPr>
        <p:spPr>
          <a:xfrm>
            <a:off x="1225501" y="935800"/>
            <a:ext cx="6693300" cy="256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/>
          <p:cNvPicPr preferRelativeResize="0"/>
          <p:nvPr/>
        </p:nvPicPr>
        <p:blipFill rotWithShape="1">
          <a:blip r:embed="rId2">
            <a:alphaModFix/>
          </a:blip>
          <a:srcRect b="2428" l="2211" r="2039" t="1564"/>
          <a:stretch/>
        </p:blipFill>
        <p:spPr>
          <a:xfrm flipH="1" rot="10800000">
            <a:off x="-35500" y="-6025"/>
            <a:ext cx="9224550" cy="520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 rotWithShape="1">
          <a:blip r:embed="rId3">
            <a:alphaModFix amt="50000"/>
          </a:blip>
          <a:srcRect b="0" l="28403" r="7263" t="0"/>
          <a:stretch/>
        </p:blipFill>
        <p:spPr>
          <a:xfrm flipH="1" rot="10800000">
            <a:off x="0" y="-2974"/>
            <a:ext cx="6343276" cy="514944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title"/>
          </p:nvPr>
        </p:nvSpPr>
        <p:spPr>
          <a:xfrm>
            <a:off x="1762050" y="2222050"/>
            <a:ext cx="5619900" cy="1420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hasCustomPrompt="1" idx="2" type="title"/>
          </p:nvPr>
        </p:nvSpPr>
        <p:spPr>
          <a:xfrm>
            <a:off x="3730500" y="1028700"/>
            <a:ext cx="1683000" cy="103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1762050" y="3798800"/>
            <a:ext cx="56199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 rotWithShape="1">
          <a:blip r:embed="rId2">
            <a:alphaModFix/>
          </a:blip>
          <a:srcRect b="1189" l="2069" r="67855" t="1287"/>
          <a:stretch/>
        </p:blipFill>
        <p:spPr>
          <a:xfrm rot="5400000">
            <a:off x="1975951" y="-2045276"/>
            <a:ext cx="5183273" cy="92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 rotWithShape="1">
          <a:blip r:embed="rId3">
            <a:alphaModFix amt="50000"/>
          </a:blip>
          <a:srcRect b="-125054" l="10399" r="28318" t="7568"/>
          <a:stretch/>
        </p:blipFill>
        <p:spPr>
          <a:xfrm rot="5400000">
            <a:off x="2179638" y="-2000125"/>
            <a:ext cx="5138125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/>
          <p:nvPr/>
        </p:nvSpPr>
        <p:spPr>
          <a:xfrm>
            <a:off x="1339719" y="3344908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7544343" y="3535034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7567628" y="3541624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7573120" y="3543821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1339741" y="3348571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7544355" y="3538697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7567640" y="3545287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7573132" y="3547483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 txBox="1"/>
          <p:nvPr>
            <p:ph type="title"/>
          </p:nvPr>
        </p:nvSpPr>
        <p:spPr>
          <a:xfrm>
            <a:off x="1015275" y="866775"/>
            <a:ext cx="3404400" cy="217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9" name="Google Shape;139;p16"/>
          <p:cNvSpPr txBox="1"/>
          <p:nvPr>
            <p:ph idx="1" type="subTitle"/>
          </p:nvPr>
        </p:nvSpPr>
        <p:spPr>
          <a:xfrm>
            <a:off x="1015275" y="3078150"/>
            <a:ext cx="27855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6"/>
          <p:cNvSpPr/>
          <p:nvPr>
            <p:ph idx="2" type="pic"/>
          </p:nvPr>
        </p:nvSpPr>
        <p:spPr>
          <a:xfrm>
            <a:off x="5382975" y="679925"/>
            <a:ext cx="2814600" cy="37839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/>
          <p:cNvPicPr preferRelativeResize="0"/>
          <p:nvPr/>
        </p:nvPicPr>
        <p:blipFill rotWithShape="1">
          <a:blip r:embed="rId2">
            <a:alphaModFix amt="80000"/>
          </a:blip>
          <a:srcRect b="0" l="3846" r="0" t="0"/>
          <a:stretch/>
        </p:blipFill>
        <p:spPr>
          <a:xfrm rot="5400000">
            <a:off x="1992363" y="-2001337"/>
            <a:ext cx="5168000" cy="915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/>
          <p:cNvPicPr preferRelativeResize="0"/>
          <p:nvPr/>
        </p:nvPicPr>
        <p:blipFill rotWithShape="1">
          <a:blip r:embed="rId3">
            <a:alphaModFix amt="50000"/>
          </a:blip>
          <a:srcRect b="74696" l="1158" r="46640" t="0"/>
          <a:stretch/>
        </p:blipFill>
        <p:spPr>
          <a:xfrm flipH="1" rot="-5400000">
            <a:off x="5935477" y="1915023"/>
            <a:ext cx="5146998" cy="1303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>
            <p:ph type="title"/>
          </p:nvPr>
        </p:nvSpPr>
        <p:spPr>
          <a:xfrm>
            <a:off x="1053375" y="1333500"/>
            <a:ext cx="2766300" cy="122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5" name="Google Shape;145;p17"/>
          <p:cNvSpPr txBox="1"/>
          <p:nvPr>
            <p:ph idx="1" type="subTitle"/>
          </p:nvPr>
        </p:nvSpPr>
        <p:spPr>
          <a:xfrm>
            <a:off x="1053375" y="2556075"/>
            <a:ext cx="2766300" cy="12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/>
          <p:cNvPicPr preferRelativeResize="0"/>
          <p:nvPr/>
        </p:nvPicPr>
        <p:blipFill rotWithShape="1">
          <a:blip r:embed="rId2">
            <a:alphaModFix/>
          </a:blip>
          <a:srcRect b="0" l="420" r="-520" t="0"/>
          <a:stretch/>
        </p:blipFill>
        <p:spPr>
          <a:xfrm flipH="1" rot="5400000">
            <a:off x="1951101" y="-2021899"/>
            <a:ext cx="5250524" cy="915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/>
          <p:cNvPicPr preferRelativeResize="0"/>
          <p:nvPr/>
        </p:nvPicPr>
        <p:blipFill rotWithShape="1">
          <a:blip r:embed="rId3">
            <a:alphaModFix amt="50000"/>
          </a:blip>
          <a:srcRect b="-7604" l="15471" r="5794" t="51396"/>
          <a:stretch/>
        </p:blipFill>
        <p:spPr>
          <a:xfrm>
            <a:off x="0" y="-69150"/>
            <a:ext cx="7763599" cy="289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/>
          <p:nvPr/>
        </p:nvSpPr>
        <p:spPr>
          <a:xfrm>
            <a:off x="1339719" y="3344908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7544343" y="3535034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7567628" y="3541624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7573120" y="3543821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1339741" y="3348571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7544355" y="3538697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7567640" y="3545287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7573132" y="3547483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 txBox="1"/>
          <p:nvPr>
            <p:ph type="title"/>
          </p:nvPr>
        </p:nvSpPr>
        <p:spPr>
          <a:xfrm>
            <a:off x="5230000" y="1410788"/>
            <a:ext cx="26304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8" name="Google Shape;158;p18"/>
          <p:cNvSpPr txBox="1"/>
          <p:nvPr>
            <p:ph idx="1" type="subTitle"/>
          </p:nvPr>
        </p:nvSpPr>
        <p:spPr>
          <a:xfrm>
            <a:off x="5230125" y="2652427"/>
            <a:ext cx="26304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/>
          <p:cNvPicPr preferRelativeResize="0"/>
          <p:nvPr/>
        </p:nvPicPr>
        <p:blipFill rotWithShape="1">
          <a:blip r:embed="rId2">
            <a:alphaModFix/>
          </a:blip>
          <a:srcRect b="0" l="420" r="-520" t="0"/>
          <a:stretch/>
        </p:blipFill>
        <p:spPr>
          <a:xfrm flipH="1" rot="-5400000">
            <a:off x="1982013" y="-1990987"/>
            <a:ext cx="5188700" cy="915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/>
          <p:cNvPicPr preferRelativeResize="0"/>
          <p:nvPr/>
        </p:nvPicPr>
        <p:blipFill rotWithShape="1">
          <a:blip r:embed="rId3">
            <a:alphaModFix amt="50000"/>
          </a:blip>
          <a:srcRect b="74953" l="1158" r="46640" t="0"/>
          <a:stretch/>
        </p:blipFill>
        <p:spPr>
          <a:xfrm rot="5400000">
            <a:off x="-1923136" y="1921636"/>
            <a:ext cx="5146998" cy="128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/>
          <p:nvPr/>
        </p:nvSpPr>
        <p:spPr>
          <a:xfrm>
            <a:off x="1339719" y="3344908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7544343" y="3535034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7567628" y="3541624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6" name="Google Shape;166;p19"/>
          <p:cNvSpPr txBox="1"/>
          <p:nvPr>
            <p:ph idx="1" type="body"/>
          </p:nvPr>
        </p:nvSpPr>
        <p:spPr>
          <a:xfrm>
            <a:off x="726600" y="1017725"/>
            <a:ext cx="7704000" cy="12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0"/>
          <p:cNvPicPr preferRelativeResize="0"/>
          <p:nvPr/>
        </p:nvPicPr>
        <p:blipFill rotWithShape="1">
          <a:blip r:embed="rId2">
            <a:alphaModFix/>
          </a:blip>
          <a:srcRect b="0" l="420" r="-520" t="0"/>
          <a:stretch/>
        </p:blipFill>
        <p:spPr>
          <a:xfrm rot="5400000">
            <a:off x="1982013" y="-1990987"/>
            <a:ext cx="5188700" cy="915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/>
          <p:cNvPicPr preferRelativeResize="0"/>
          <p:nvPr/>
        </p:nvPicPr>
        <p:blipFill rotWithShape="1">
          <a:blip r:embed="rId3">
            <a:alphaModFix amt="50000"/>
          </a:blip>
          <a:srcRect b="74953" l="1158" r="46640" t="0"/>
          <a:stretch/>
        </p:blipFill>
        <p:spPr>
          <a:xfrm flipH="1" rot="-5400000">
            <a:off x="5928864" y="1921636"/>
            <a:ext cx="5146998" cy="128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1" name="Google Shape;171;p20"/>
          <p:cNvSpPr/>
          <p:nvPr/>
        </p:nvSpPr>
        <p:spPr>
          <a:xfrm>
            <a:off x="1339719" y="3344908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7544343" y="3535034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7567628" y="3541624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7573120" y="3543821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1339741" y="3348571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7544355" y="3538697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7567640" y="3545287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7573132" y="3547483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1"/>
          <p:cNvPicPr preferRelativeResize="0"/>
          <p:nvPr/>
        </p:nvPicPr>
        <p:blipFill rotWithShape="1">
          <a:blip r:embed="rId2">
            <a:alphaModFix/>
          </a:blip>
          <a:srcRect b="0" l="411" r="1539" t="0"/>
          <a:stretch/>
        </p:blipFill>
        <p:spPr>
          <a:xfrm flipH="1" rot="5400000">
            <a:off x="1982013" y="-1990987"/>
            <a:ext cx="5188700" cy="915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/>
          <p:cNvPicPr preferRelativeResize="0"/>
          <p:nvPr/>
        </p:nvPicPr>
        <p:blipFill rotWithShape="1">
          <a:blip r:embed="rId3">
            <a:alphaModFix amt="50000"/>
          </a:blip>
          <a:srcRect b="83547" l="1158" r="46640" t="0"/>
          <a:stretch/>
        </p:blipFill>
        <p:spPr>
          <a:xfrm rot="-5400000">
            <a:off x="6176613" y="2184614"/>
            <a:ext cx="5146998" cy="84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/>
          <p:cNvPicPr preferRelativeResize="0"/>
          <p:nvPr/>
        </p:nvPicPr>
        <p:blipFill rotWithShape="1">
          <a:blip r:embed="rId3">
            <a:alphaModFix amt="50000"/>
          </a:blip>
          <a:srcRect b="83547" l="1158" r="46640" t="0"/>
          <a:stretch/>
        </p:blipFill>
        <p:spPr>
          <a:xfrm flipH="1" rot="5400000">
            <a:off x="-2149887" y="2184614"/>
            <a:ext cx="5146998" cy="84722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2"/>
          <p:cNvPicPr preferRelativeResize="0"/>
          <p:nvPr/>
        </p:nvPicPr>
        <p:blipFill rotWithShape="1">
          <a:blip r:embed="rId2">
            <a:alphaModFix/>
          </a:blip>
          <a:srcRect b="0" l="411" r="1539" t="0"/>
          <a:stretch/>
        </p:blipFill>
        <p:spPr>
          <a:xfrm flipH="1" rot="5400000">
            <a:off x="1982013" y="-1990987"/>
            <a:ext cx="5188700" cy="915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2"/>
          <p:cNvPicPr preferRelativeResize="0"/>
          <p:nvPr/>
        </p:nvPicPr>
        <p:blipFill rotWithShape="1">
          <a:blip r:embed="rId3">
            <a:alphaModFix amt="50000"/>
          </a:blip>
          <a:srcRect b="83547" l="1158" r="46640" t="0"/>
          <a:stretch/>
        </p:blipFill>
        <p:spPr>
          <a:xfrm rot="-5400000">
            <a:off x="6176613" y="2184614"/>
            <a:ext cx="5146998" cy="84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/>
          <p:cNvPicPr preferRelativeResize="0"/>
          <p:nvPr/>
        </p:nvPicPr>
        <p:blipFill rotWithShape="1">
          <a:blip r:embed="rId3">
            <a:alphaModFix amt="50000"/>
          </a:blip>
          <a:srcRect b="83547" l="1158" r="46640" t="0"/>
          <a:stretch/>
        </p:blipFill>
        <p:spPr>
          <a:xfrm flipH="1" rot="5400000">
            <a:off x="-2149887" y="2184614"/>
            <a:ext cx="5146998" cy="84722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3"/>
          <p:cNvPicPr preferRelativeResize="0"/>
          <p:nvPr/>
        </p:nvPicPr>
        <p:blipFill rotWithShape="1">
          <a:blip r:embed="rId2">
            <a:alphaModFix/>
          </a:blip>
          <a:srcRect b="0" l="420" r="-520" t="0"/>
          <a:stretch/>
        </p:blipFill>
        <p:spPr>
          <a:xfrm flipH="1" rot="-5400000">
            <a:off x="1976137" y="-1990987"/>
            <a:ext cx="5188700" cy="915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3"/>
          <p:cNvPicPr preferRelativeResize="0"/>
          <p:nvPr/>
        </p:nvPicPr>
        <p:blipFill rotWithShape="1">
          <a:blip r:embed="rId3">
            <a:alphaModFix amt="50000"/>
          </a:blip>
          <a:srcRect b="51453" l="1158" r="46640" t="0"/>
          <a:stretch/>
        </p:blipFill>
        <p:spPr>
          <a:xfrm flipH="1" rot="-5400000">
            <a:off x="5331289" y="1316587"/>
            <a:ext cx="5146998" cy="249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3"/>
          <p:cNvSpPr/>
          <p:nvPr/>
        </p:nvSpPr>
        <p:spPr>
          <a:xfrm>
            <a:off x="1339719" y="3344908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"/>
          <p:cNvSpPr/>
          <p:nvPr/>
        </p:nvSpPr>
        <p:spPr>
          <a:xfrm>
            <a:off x="7544343" y="3535034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3"/>
          <p:cNvSpPr/>
          <p:nvPr/>
        </p:nvSpPr>
        <p:spPr>
          <a:xfrm>
            <a:off x="7567628" y="3541624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7573120" y="3543821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3"/>
          <p:cNvSpPr/>
          <p:nvPr/>
        </p:nvSpPr>
        <p:spPr>
          <a:xfrm>
            <a:off x="1339741" y="3348571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3"/>
          <p:cNvSpPr/>
          <p:nvPr/>
        </p:nvSpPr>
        <p:spPr>
          <a:xfrm>
            <a:off x="7544355" y="3538697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3"/>
          <p:cNvSpPr/>
          <p:nvPr/>
        </p:nvSpPr>
        <p:spPr>
          <a:xfrm>
            <a:off x="7567640" y="3545287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3"/>
          <p:cNvSpPr/>
          <p:nvPr/>
        </p:nvSpPr>
        <p:spPr>
          <a:xfrm>
            <a:off x="7573132" y="3547483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3"/>
          <p:cNvSpPr txBox="1"/>
          <p:nvPr>
            <p:ph type="title"/>
          </p:nvPr>
        </p:nvSpPr>
        <p:spPr>
          <a:xfrm>
            <a:off x="713325" y="445025"/>
            <a:ext cx="77175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1" name="Google Shape;201;p23"/>
          <p:cNvSpPr txBox="1"/>
          <p:nvPr>
            <p:ph idx="1" type="subTitle"/>
          </p:nvPr>
        </p:nvSpPr>
        <p:spPr>
          <a:xfrm>
            <a:off x="4572227" y="2750476"/>
            <a:ext cx="3744900" cy="1010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3"/>
          <p:cNvSpPr txBox="1"/>
          <p:nvPr>
            <p:ph idx="2" type="subTitle"/>
          </p:nvPr>
        </p:nvSpPr>
        <p:spPr>
          <a:xfrm>
            <a:off x="713325" y="2750475"/>
            <a:ext cx="3744900" cy="1010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3"/>
          <p:cNvSpPr txBox="1"/>
          <p:nvPr>
            <p:ph idx="3" type="subTitle"/>
          </p:nvPr>
        </p:nvSpPr>
        <p:spPr>
          <a:xfrm>
            <a:off x="713325" y="2043825"/>
            <a:ext cx="3744900" cy="546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  <p:sp>
        <p:nvSpPr>
          <p:cNvPr id="204" name="Google Shape;204;p23"/>
          <p:cNvSpPr txBox="1"/>
          <p:nvPr>
            <p:ph idx="4" type="subTitle"/>
          </p:nvPr>
        </p:nvSpPr>
        <p:spPr>
          <a:xfrm>
            <a:off x="4572225" y="2043850"/>
            <a:ext cx="3744900" cy="546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chivo Black"/>
              <a:buNone/>
              <a:defRPr sz="2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4"/>
          <p:cNvPicPr preferRelativeResize="0"/>
          <p:nvPr/>
        </p:nvPicPr>
        <p:blipFill rotWithShape="1">
          <a:blip r:embed="rId2">
            <a:alphaModFix/>
          </a:blip>
          <a:srcRect b="0" l="420" r="-520" t="0"/>
          <a:stretch/>
        </p:blipFill>
        <p:spPr>
          <a:xfrm rot="5400000">
            <a:off x="1982013" y="-1990987"/>
            <a:ext cx="5188700" cy="915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4"/>
          <p:cNvPicPr preferRelativeResize="0"/>
          <p:nvPr/>
        </p:nvPicPr>
        <p:blipFill rotWithShape="1">
          <a:blip r:embed="rId3">
            <a:alphaModFix amt="50000"/>
          </a:blip>
          <a:srcRect b="74953" l="1158" r="46640" t="0"/>
          <a:stretch/>
        </p:blipFill>
        <p:spPr>
          <a:xfrm flipH="1" rot="-5400000">
            <a:off x="5928864" y="1921636"/>
            <a:ext cx="5146998" cy="1289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4"/>
          <p:cNvPicPr preferRelativeResize="0"/>
          <p:nvPr/>
        </p:nvPicPr>
        <p:blipFill rotWithShape="1">
          <a:blip r:embed="rId3">
            <a:alphaModFix amt="50000"/>
          </a:blip>
          <a:srcRect b="9628" l="42832" r="14893" t="34163"/>
          <a:stretch/>
        </p:blipFill>
        <p:spPr>
          <a:xfrm flipH="1" rot="10800000">
            <a:off x="6425" y="2274775"/>
            <a:ext cx="4168325" cy="289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 txBox="1"/>
          <p:nvPr>
            <p:ph type="title"/>
          </p:nvPr>
        </p:nvSpPr>
        <p:spPr>
          <a:xfrm>
            <a:off x="1477300" y="445025"/>
            <a:ext cx="6189300" cy="12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0" name="Google Shape;210;p24"/>
          <p:cNvSpPr txBox="1"/>
          <p:nvPr>
            <p:ph idx="1" type="subTitle"/>
          </p:nvPr>
        </p:nvSpPr>
        <p:spPr>
          <a:xfrm>
            <a:off x="1924594" y="3463225"/>
            <a:ext cx="6102300" cy="11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4"/>
          <p:cNvSpPr txBox="1"/>
          <p:nvPr>
            <p:ph idx="2" type="subTitle"/>
          </p:nvPr>
        </p:nvSpPr>
        <p:spPr>
          <a:xfrm>
            <a:off x="1924594" y="1916750"/>
            <a:ext cx="6102300" cy="11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5"/>
          <p:cNvPicPr preferRelativeResize="0"/>
          <p:nvPr/>
        </p:nvPicPr>
        <p:blipFill rotWithShape="1">
          <a:blip r:embed="rId2">
            <a:alphaModFix/>
          </a:blip>
          <a:srcRect b="0" l="-112" r="68730" t="0"/>
          <a:stretch/>
        </p:blipFill>
        <p:spPr>
          <a:xfrm rot="5400000">
            <a:off x="1961489" y="-2017189"/>
            <a:ext cx="5221023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5"/>
          <p:cNvPicPr preferRelativeResize="0"/>
          <p:nvPr/>
        </p:nvPicPr>
        <p:blipFill rotWithShape="1">
          <a:blip r:embed="rId3">
            <a:alphaModFix amt="50000"/>
          </a:blip>
          <a:srcRect b="-15031" l="25094" r="46725" t="64076"/>
          <a:stretch/>
        </p:blipFill>
        <p:spPr>
          <a:xfrm rot="5400000">
            <a:off x="5543099" y="175376"/>
            <a:ext cx="3763476" cy="341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5"/>
          <p:cNvSpPr txBox="1"/>
          <p:nvPr>
            <p:ph type="title"/>
          </p:nvPr>
        </p:nvSpPr>
        <p:spPr>
          <a:xfrm>
            <a:off x="1486150" y="445025"/>
            <a:ext cx="6171900" cy="1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6" name="Google Shape;216;p25"/>
          <p:cNvSpPr txBox="1"/>
          <p:nvPr>
            <p:ph idx="1" type="subTitle"/>
          </p:nvPr>
        </p:nvSpPr>
        <p:spPr>
          <a:xfrm>
            <a:off x="907342" y="3260377"/>
            <a:ext cx="2388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5"/>
          <p:cNvSpPr txBox="1"/>
          <p:nvPr>
            <p:ph idx="2" type="subTitle"/>
          </p:nvPr>
        </p:nvSpPr>
        <p:spPr>
          <a:xfrm>
            <a:off x="3377850" y="3260377"/>
            <a:ext cx="2388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25"/>
          <p:cNvSpPr txBox="1"/>
          <p:nvPr>
            <p:ph idx="3" type="subTitle"/>
          </p:nvPr>
        </p:nvSpPr>
        <p:spPr>
          <a:xfrm>
            <a:off x="5848358" y="3260377"/>
            <a:ext cx="2388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5"/>
          <p:cNvSpPr txBox="1"/>
          <p:nvPr>
            <p:ph idx="4" type="subTitle"/>
          </p:nvPr>
        </p:nvSpPr>
        <p:spPr>
          <a:xfrm>
            <a:off x="907342" y="2571750"/>
            <a:ext cx="2388300" cy="575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0" name="Google Shape;220;p25"/>
          <p:cNvSpPr txBox="1"/>
          <p:nvPr>
            <p:ph idx="5" type="subTitle"/>
          </p:nvPr>
        </p:nvSpPr>
        <p:spPr>
          <a:xfrm>
            <a:off x="3377850" y="2571750"/>
            <a:ext cx="2388300" cy="575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1" name="Google Shape;221;p25"/>
          <p:cNvSpPr txBox="1"/>
          <p:nvPr>
            <p:ph idx="6" type="subTitle"/>
          </p:nvPr>
        </p:nvSpPr>
        <p:spPr>
          <a:xfrm>
            <a:off x="5848358" y="2571750"/>
            <a:ext cx="2388300" cy="575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pic>
        <p:nvPicPr>
          <p:cNvPr id="222" name="Google Shape;222;p25"/>
          <p:cNvPicPr preferRelativeResize="0"/>
          <p:nvPr/>
        </p:nvPicPr>
        <p:blipFill rotWithShape="1">
          <a:blip r:embed="rId3">
            <a:alphaModFix amt="50000"/>
          </a:blip>
          <a:srcRect b="74084" l="25094" r="46725" t="15030"/>
          <a:stretch/>
        </p:blipFill>
        <p:spPr>
          <a:xfrm rot="5400000">
            <a:off x="-1624476" y="1577575"/>
            <a:ext cx="3913201" cy="758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6"/>
          <p:cNvPicPr preferRelativeResize="0"/>
          <p:nvPr/>
        </p:nvPicPr>
        <p:blipFill rotWithShape="1">
          <a:blip r:embed="rId2">
            <a:alphaModFix/>
          </a:blip>
          <a:srcRect b="-241" l="420" r="-520" t="-241"/>
          <a:stretch/>
        </p:blipFill>
        <p:spPr>
          <a:xfrm flipH="1" rot="-5400000">
            <a:off x="1984012" y="-2013262"/>
            <a:ext cx="5188700" cy="920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6"/>
          <p:cNvPicPr preferRelativeResize="0"/>
          <p:nvPr/>
        </p:nvPicPr>
        <p:blipFill rotWithShape="1">
          <a:blip r:embed="rId3">
            <a:alphaModFix amt="50000"/>
          </a:blip>
          <a:srcRect b="51453" l="1158" r="46640" t="0"/>
          <a:stretch/>
        </p:blipFill>
        <p:spPr>
          <a:xfrm rot="5400000">
            <a:off x="-1325560" y="1316587"/>
            <a:ext cx="5146998" cy="2499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6"/>
          <p:cNvSpPr/>
          <p:nvPr/>
        </p:nvSpPr>
        <p:spPr>
          <a:xfrm>
            <a:off x="1339719" y="3344908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6"/>
          <p:cNvSpPr/>
          <p:nvPr/>
        </p:nvSpPr>
        <p:spPr>
          <a:xfrm>
            <a:off x="7544343" y="3535034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6"/>
          <p:cNvSpPr/>
          <p:nvPr/>
        </p:nvSpPr>
        <p:spPr>
          <a:xfrm>
            <a:off x="7567628" y="3541624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0" name="Google Shape;230;p26"/>
          <p:cNvSpPr txBox="1"/>
          <p:nvPr>
            <p:ph idx="1" type="subTitle"/>
          </p:nvPr>
        </p:nvSpPr>
        <p:spPr>
          <a:xfrm>
            <a:off x="898876" y="1861075"/>
            <a:ext cx="23274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6"/>
          <p:cNvSpPr txBox="1"/>
          <p:nvPr>
            <p:ph idx="2" type="subTitle"/>
          </p:nvPr>
        </p:nvSpPr>
        <p:spPr>
          <a:xfrm>
            <a:off x="5917724" y="1861075"/>
            <a:ext cx="23274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6"/>
          <p:cNvSpPr txBox="1"/>
          <p:nvPr>
            <p:ph idx="3" type="subTitle"/>
          </p:nvPr>
        </p:nvSpPr>
        <p:spPr>
          <a:xfrm>
            <a:off x="898876" y="3209975"/>
            <a:ext cx="23274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26"/>
          <p:cNvSpPr txBox="1"/>
          <p:nvPr>
            <p:ph idx="4" type="subTitle"/>
          </p:nvPr>
        </p:nvSpPr>
        <p:spPr>
          <a:xfrm>
            <a:off x="5917724" y="3209975"/>
            <a:ext cx="23274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6"/>
          <p:cNvSpPr txBox="1"/>
          <p:nvPr>
            <p:ph idx="5" type="subTitle"/>
          </p:nvPr>
        </p:nvSpPr>
        <p:spPr>
          <a:xfrm>
            <a:off x="898876" y="1441575"/>
            <a:ext cx="2327400" cy="5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5" name="Google Shape;235;p26"/>
          <p:cNvSpPr txBox="1"/>
          <p:nvPr>
            <p:ph idx="6" type="subTitle"/>
          </p:nvPr>
        </p:nvSpPr>
        <p:spPr>
          <a:xfrm>
            <a:off x="898876" y="2790550"/>
            <a:ext cx="2327400" cy="5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6" name="Google Shape;236;p26"/>
          <p:cNvSpPr txBox="1"/>
          <p:nvPr>
            <p:ph idx="7" type="subTitle"/>
          </p:nvPr>
        </p:nvSpPr>
        <p:spPr>
          <a:xfrm>
            <a:off x="5917724" y="1441575"/>
            <a:ext cx="2327400" cy="5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7" name="Google Shape;237;p26"/>
          <p:cNvSpPr txBox="1"/>
          <p:nvPr>
            <p:ph idx="8" type="subTitle"/>
          </p:nvPr>
        </p:nvSpPr>
        <p:spPr>
          <a:xfrm>
            <a:off x="5917724" y="2790550"/>
            <a:ext cx="2327400" cy="5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7"/>
          <p:cNvPicPr preferRelativeResize="0"/>
          <p:nvPr/>
        </p:nvPicPr>
        <p:blipFill rotWithShape="1">
          <a:blip r:embed="rId2">
            <a:alphaModFix/>
          </a:blip>
          <a:srcRect b="2563" l="1525" r="67012" t="2828"/>
          <a:stretch/>
        </p:blipFill>
        <p:spPr>
          <a:xfrm rot="5400000">
            <a:off x="1970501" y="-2064225"/>
            <a:ext cx="5234125" cy="9224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7"/>
          <p:cNvPicPr preferRelativeResize="0"/>
          <p:nvPr/>
        </p:nvPicPr>
        <p:blipFill rotWithShape="1">
          <a:blip r:embed="rId3">
            <a:alphaModFix amt="50000"/>
          </a:blip>
          <a:srcRect b="-125036" l="10399" r="28318" t="17265"/>
          <a:stretch/>
        </p:blipFill>
        <p:spPr>
          <a:xfrm rot="5400000">
            <a:off x="2272713" y="-1877212"/>
            <a:ext cx="5138125" cy="873614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7"/>
          <p:cNvSpPr/>
          <p:nvPr/>
        </p:nvSpPr>
        <p:spPr>
          <a:xfrm>
            <a:off x="1339719" y="3344908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7"/>
          <p:cNvSpPr/>
          <p:nvPr/>
        </p:nvSpPr>
        <p:spPr>
          <a:xfrm>
            <a:off x="7544343" y="3535034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7"/>
          <p:cNvSpPr/>
          <p:nvPr/>
        </p:nvSpPr>
        <p:spPr>
          <a:xfrm>
            <a:off x="7567628" y="3541624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7"/>
          <p:cNvSpPr/>
          <p:nvPr/>
        </p:nvSpPr>
        <p:spPr>
          <a:xfrm>
            <a:off x="7573120" y="3543821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7"/>
          <p:cNvSpPr/>
          <p:nvPr/>
        </p:nvSpPr>
        <p:spPr>
          <a:xfrm>
            <a:off x="1339741" y="3348571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7"/>
          <p:cNvSpPr/>
          <p:nvPr/>
        </p:nvSpPr>
        <p:spPr>
          <a:xfrm>
            <a:off x="7544355" y="3538697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7"/>
          <p:cNvSpPr/>
          <p:nvPr/>
        </p:nvSpPr>
        <p:spPr>
          <a:xfrm>
            <a:off x="7567640" y="3545287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7"/>
          <p:cNvSpPr/>
          <p:nvPr/>
        </p:nvSpPr>
        <p:spPr>
          <a:xfrm>
            <a:off x="7573132" y="3547483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0" name="Google Shape;250;p27"/>
          <p:cNvSpPr txBox="1"/>
          <p:nvPr>
            <p:ph idx="1" type="subTitle"/>
          </p:nvPr>
        </p:nvSpPr>
        <p:spPr>
          <a:xfrm>
            <a:off x="5907100" y="2204523"/>
            <a:ext cx="2505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27"/>
          <p:cNvSpPr txBox="1"/>
          <p:nvPr>
            <p:ph idx="2" type="subTitle"/>
          </p:nvPr>
        </p:nvSpPr>
        <p:spPr>
          <a:xfrm>
            <a:off x="5907100" y="3861700"/>
            <a:ext cx="2505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27"/>
          <p:cNvSpPr txBox="1"/>
          <p:nvPr>
            <p:ph idx="3" type="subTitle"/>
          </p:nvPr>
        </p:nvSpPr>
        <p:spPr>
          <a:xfrm>
            <a:off x="5907100" y="1806425"/>
            <a:ext cx="2505600" cy="422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3" name="Google Shape;253;p27"/>
          <p:cNvSpPr txBox="1"/>
          <p:nvPr>
            <p:ph idx="4" type="subTitle"/>
          </p:nvPr>
        </p:nvSpPr>
        <p:spPr>
          <a:xfrm>
            <a:off x="5907100" y="3463625"/>
            <a:ext cx="2505600" cy="422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4" name="Google Shape;254;p27"/>
          <p:cNvSpPr txBox="1"/>
          <p:nvPr>
            <p:ph idx="5" type="subTitle"/>
          </p:nvPr>
        </p:nvSpPr>
        <p:spPr>
          <a:xfrm>
            <a:off x="3319200" y="2204524"/>
            <a:ext cx="2505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idx="6" type="subTitle"/>
          </p:nvPr>
        </p:nvSpPr>
        <p:spPr>
          <a:xfrm>
            <a:off x="3319200" y="3861700"/>
            <a:ext cx="2505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7"/>
          <p:cNvSpPr txBox="1"/>
          <p:nvPr>
            <p:ph idx="7" type="subTitle"/>
          </p:nvPr>
        </p:nvSpPr>
        <p:spPr>
          <a:xfrm>
            <a:off x="3319200" y="1806425"/>
            <a:ext cx="2505600" cy="422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8" type="subTitle"/>
          </p:nvPr>
        </p:nvSpPr>
        <p:spPr>
          <a:xfrm>
            <a:off x="3319200" y="3463625"/>
            <a:ext cx="2505600" cy="422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8" name="Google Shape;258;p27"/>
          <p:cNvSpPr txBox="1"/>
          <p:nvPr>
            <p:ph idx="9" type="subTitle"/>
          </p:nvPr>
        </p:nvSpPr>
        <p:spPr>
          <a:xfrm>
            <a:off x="731300" y="2204524"/>
            <a:ext cx="2505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7"/>
          <p:cNvSpPr txBox="1"/>
          <p:nvPr>
            <p:ph idx="13" type="subTitle"/>
          </p:nvPr>
        </p:nvSpPr>
        <p:spPr>
          <a:xfrm>
            <a:off x="731300" y="3861700"/>
            <a:ext cx="2505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7"/>
          <p:cNvSpPr txBox="1"/>
          <p:nvPr>
            <p:ph idx="14" type="subTitle"/>
          </p:nvPr>
        </p:nvSpPr>
        <p:spPr>
          <a:xfrm>
            <a:off x="731300" y="1806425"/>
            <a:ext cx="2505600" cy="422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1" name="Google Shape;261;p27"/>
          <p:cNvSpPr txBox="1"/>
          <p:nvPr>
            <p:ph idx="15" type="subTitle"/>
          </p:nvPr>
        </p:nvSpPr>
        <p:spPr>
          <a:xfrm>
            <a:off x="731300" y="3463625"/>
            <a:ext cx="2505600" cy="422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263;p28"/>
          <p:cNvGrpSpPr/>
          <p:nvPr/>
        </p:nvGrpSpPr>
        <p:grpSpPr>
          <a:xfrm>
            <a:off x="-1999" y="-6975"/>
            <a:ext cx="9156724" cy="5181100"/>
            <a:chOff x="-1999" y="-6975"/>
            <a:chExt cx="9156724" cy="5181100"/>
          </a:xfrm>
        </p:grpSpPr>
        <p:pic>
          <p:nvPicPr>
            <p:cNvPr id="264" name="Google Shape;264;p28"/>
            <p:cNvPicPr preferRelativeResize="0"/>
            <p:nvPr/>
          </p:nvPicPr>
          <p:blipFill rotWithShape="1">
            <a:blip r:embed="rId2">
              <a:alphaModFix amt="80000"/>
            </a:blip>
            <a:srcRect b="0" l="5276" r="44378" t="0"/>
            <a:stretch/>
          </p:blipFill>
          <p:spPr>
            <a:xfrm flipH="1" rot="5400000">
              <a:off x="3238138" y="-742462"/>
              <a:ext cx="2676449" cy="91567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28"/>
            <p:cNvPicPr preferRelativeResize="0"/>
            <p:nvPr/>
          </p:nvPicPr>
          <p:blipFill rotWithShape="1">
            <a:blip r:embed="rId2">
              <a:alphaModFix amt="80000"/>
            </a:blip>
            <a:srcRect b="0" l="3991" r="46666" t="0"/>
            <a:stretch/>
          </p:blipFill>
          <p:spPr>
            <a:xfrm rot="5400000">
              <a:off x="3297577" y="-3306550"/>
              <a:ext cx="2557573" cy="915672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6" name="Google Shape;266;p28"/>
          <p:cNvPicPr preferRelativeResize="0"/>
          <p:nvPr/>
        </p:nvPicPr>
        <p:blipFill rotWithShape="1">
          <a:blip r:embed="rId3">
            <a:alphaModFix amt="50000"/>
          </a:blip>
          <a:srcRect b="74696" l="1158" r="46640" t="0"/>
          <a:stretch/>
        </p:blipFill>
        <p:spPr>
          <a:xfrm flipH="1" rot="-5400000">
            <a:off x="5935477" y="1915023"/>
            <a:ext cx="5146998" cy="1303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8"/>
          <p:cNvSpPr txBox="1"/>
          <p:nvPr>
            <p:ph hasCustomPrompt="1" type="title"/>
          </p:nvPr>
        </p:nvSpPr>
        <p:spPr>
          <a:xfrm>
            <a:off x="886075" y="1731887"/>
            <a:ext cx="2238000" cy="8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8" name="Google Shape;268;p28"/>
          <p:cNvSpPr txBox="1"/>
          <p:nvPr>
            <p:ph idx="1" type="subTitle"/>
          </p:nvPr>
        </p:nvSpPr>
        <p:spPr>
          <a:xfrm>
            <a:off x="886075" y="2784013"/>
            <a:ext cx="2238000" cy="627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69" name="Google Shape;269;p28"/>
          <p:cNvSpPr txBox="1"/>
          <p:nvPr>
            <p:ph hasCustomPrompt="1" idx="2" type="title"/>
          </p:nvPr>
        </p:nvSpPr>
        <p:spPr>
          <a:xfrm>
            <a:off x="3452999" y="1731888"/>
            <a:ext cx="2238000" cy="8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28"/>
          <p:cNvSpPr txBox="1"/>
          <p:nvPr>
            <p:ph idx="3" type="subTitle"/>
          </p:nvPr>
        </p:nvSpPr>
        <p:spPr>
          <a:xfrm>
            <a:off x="3453000" y="2784013"/>
            <a:ext cx="2238000" cy="627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1" name="Google Shape;271;p28"/>
          <p:cNvSpPr txBox="1"/>
          <p:nvPr>
            <p:ph hasCustomPrompt="1" idx="4" type="title"/>
          </p:nvPr>
        </p:nvSpPr>
        <p:spPr>
          <a:xfrm>
            <a:off x="6019925" y="1731889"/>
            <a:ext cx="2238000" cy="8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2" name="Google Shape;272;p28"/>
          <p:cNvSpPr txBox="1"/>
          <p:nvPr>
            <p:ph idx="5" type="subTitle"/>
          </p:nvPr>
        </p:nvSpPr>
        <p:spPr>
          <a:xfrm>
            <a:off x="6019925" y="2784013"/>
            <a:ext cx="2238000" cy="627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9"/>
          <p:cNvPicPr preferRelativeResize="0"/>
          <p:nvPr/>
        </p:nvPicPr>
        <p:blipFill rotWithShape="1">
          <a:blip r:embed="rId2">
            <a:alphaModFix/>
          </a:blip>
          <a:srcRect b="0" l="420" r="-500" t="0"/>
          <a:stretch/>
        </p:blipFill>
        <p:spPr>
          <a:xfrm flipH="1" rot="5400000">
            <a:off x="1964188" y="-2008812"/>
            <a:ext cx="5224351" cy="915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9"/>
          <p:cNvPicPr preferRelativeResize="0"/>
          <p:nvPr/>
        </p:nvPicPr>
        <p:blipFill rotWithShape="1">
          <a:blip r:embed="rId3">
            <a:alphaModFix amt="50000"/>
          </a:blip>
          <a:srcRect b="83547" l="1158" r="46640" t="0"/>
          <a:stretch/>
        </p:blipFill>
        <p:spPr>
          <a:xfrm rot="-5400000">
            <a:off x="6176613" y="2184614"/>
            <a:ext cx="5146998" cy="84722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9"/>
          <p:cNvSpPr/>
          <p:nvPr/>
        </p:nvSpPr>
        <p:spPr>
          <a:xfrm>
            <a:off x="1339719" y="3344908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7544343" y="3535034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9"/>
          <p:cNvSpPr/>
          <p:nvPr/>
        </p:nvSpPr>
        <p:spPr>
          <a:xfrm>
            <a:off x="7567628" y="3541624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/>
          <p:nvPr/>
        </p:nvSpPr>
        <p:spPr>
          <a:xfrm>
            <a:off x="7573120" y="3543821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9"/>
          <p:cNvSpPr/>
          <p:nvPr/>
        </p:nvSpPr>
        <p:spPr>
          <a:xfrm>
            <a:off x="1339741" y="3348571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9"/>
          <p:cNvSpPr/>
          <p:nvPr/>
        </p:nvSpPr>
        <p:spPr>
          <a:xfrm>
            <a:off x="7544355" y="3538697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9"/>
          <p:cNvSpPr/>
          <p:nvPr/>
        </p:nvSpPr>
        <p:spPr>
          <a:xfrm>
            <a:off x="7567640" y="3545287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9"/>
          <p:cNvSpPr/>
          <p:nvPr/>
        </p:nvSpPr>
        <p:spPr>
          <a:xfrm>
            <a:off x="7573132" y="3547483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9"/>
          <p:cNvSpPr txBox="1"/>
          <p:nvPr>
            <p:ph hasCustomPrompt="1" type="title"/>
          </p:nvPr>
        </p:nvSpPr>
        <p:spPr>
          <a:xfrm>
            <a:off x="996400" y="2821675"/>
            <a:ext cx="2057400" cy="532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5" name="Google Shape;285;p29"/>
          <p:cNvSpPr txBox="1"/>
          <p:nvPr>
            <p:ph idx="1" type="subTitle"/>
          </p:nvPr>
        </p:nvSpPr>
        <p:spPr>
          <a:xfrm>
            <a:off x="996400" y="3850132"/>
            <a:ext cx="2057400" cy="63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2" type="subTitle"/>
          </p:nvPr>
        </p:nvSpPr>
        <p:spPr>
          <a:xfrm>
            <a:off x="996400" y="3397775"/>
            <a:ext cx="2057400" cy="44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7" name="Google Shape;287;p29"/>
          <p:cNvSpPr txBox="1"/>
          <p:nvPr>
            <p:ph hasCustomPrompt="1" idx="3" type="title"/>
          </p:nvPr>
        </p:nvSpPr>
        <p:spPr>
          <a:xfrm>
            <a:off x="3543300" y="2821675"/>
            <a:ext cx="2057400" cy="532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8" name="Google Shape;288;p29"/>
          <p:cNvSpPr txBox="1"/>
          <p:nvPr>
            <p:ph idx="4" type="subTitle"/>
          </p:nvPr>
        </p:nvSpPr>
        <p:spPr>
          <a:xfrm>
            <a:off x="3543300" y="3850132"/>
            <a:ext cx="2057400" cy="63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5" type="subTitle"/>
          </p:nvPr>
        </p:nvSpPr>
        <p:spPr>
          <a:xfrm>
            <a:off x="3543300" y="3397775"/>
            <a:ext cx="2057400" cy="44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hasCustomPrompt="1" idx="6" type="title"/>
          </p:nvPr>
        </p:nvSpPr>
        <p:spPr>
          <a:xfrm>
            <a:off x="6090200" y="2821675"/>
            <a:ext cx="2057400" cy="532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1" name="Google Shape;291;p29"/>
          <p:cNvSpPr txBox="1"/>
          <p:nvPr>
            <p:ph idx="7" type="subTitle"/>
          </p:nvPr>
        </p:nvSpPr>
        <p:spPr>
          <a:xfrm>
            <a:off x="6090200" y="3850125"/>
            <a:ext cx="2057400" cy="63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8" type="subTitle"/>
          </p:nvPr>
        </p:nvSpPr>
        <p:spPr>
          <a:xfrm>
            <a:off x="6090200" y="3397762"/>
            <a:ext cx="2057400" cy="44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9" type="title"/>
          </p:nvPr>
        </p:nvSpPr>
        <p:spPr>
          <a:xfrm>
            <a:off x="720000" y="450475"/>
            <a:ext cx="7704000" cy="5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294" name="Google Shape;294;p29"/>
          <p:cNvPicPr preferRelativeResize="0"/>
          <p:nvPr/>
        </p:nvPicPr>
        <p:blipFill rotWithShape="1">
          <a:blip r:embed="rId3">
            <a:alphaModFix amt="50000"/>
          </a:blip>
          <a:srcRect b="83547" l="1158" r="46640" t="0"/>
          <a:stretch/>
        </p:blipFill>
        <p:spPr>
          <a:xfrm flipH="1" rot="5400000">
            <a:off x="-2149887" y="2184614"/>
            <a:ext cx="5146998" cy="84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30"/>
          <p:cNvPicPr preferRelativeResize="0"/>
          <p:nvPr/>
        </p:nvPicPr>
        <p:blipFill rotWithShape="1">
          <a:blip r:embed="rId2">
            <a:alphaModFix/>
          </a:blip>
          <a:srcRect b="-2753" l="-2503" r="-2693" t="-2753"/>
          <a:stretch/>
        </p:blipFill>
        <p:spPr>
          <a:xfrm rot="10800000">
            <a:off x="-254026" y="-148899"/>
            <a:ext cx="9648051" cy="543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0"/>
          <p:cNvPicPr preferRelativeResize="0"/>
          <p:nvPr/>
        </p:nvPicPr>
        <p:blipFill rotWithShape="1">
          <a:blip r:embed="rId3">
            <a:alphaModFix amt="50000"/>
          </a:blip>
          <a:srcRect b="0" l="1030" r="6110" t="0"/>
          <a:stretch/>
        </p:blipFill>
        <p:spPr>
          <a:xfrm rot="10800000">
            <a:off x="-2" y="-2974"/>
            <a:ext cx="9156127" cy="514944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0"/>
          <p:cNvSpPr/>
          <p:nvPr/>
        </p:nvSpPr>
        <p:spPr>
          <a:xfrm>
            <a:off x="1339719" y="3344908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0"/>
          <p:cNvSpPr/>
          <p:nvPr/>
        </p:nvSpPr>
        <p:spPr>
          <a:xfrm>
            <a:off x="7544343" y="3535034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0"/>
          <p:cNvSpPr/>
          <p:nvPr/>
        </p:nvSpPr>
        <p:spPr>
          <a:xfrm>
            <a:off x="7567628" y="3541624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0"/>
          <p:cNvSpPr/>
          <p:nvPr/>
        </p:nvSpPr>
        <p:spPr>
          <a:xfrm>
            <a:off x="7573120" y="3543821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0"/>
          <p:cNvSpPr/>
          <p:nvPr/>
        </p:nvSpPr>
        <p:spPr>
          <a:xfrm>
            <a:off x="1339741" y="3348571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0"/>
          <p:cNvSpPr/>
          <p:nvPr/>
        </p:nvSpPr>
        <p:spPr>
          <a:xfrm>
            <a:off x="7544355" y="3538697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0"/>
          <p:cNvSpPr/>
          <p:nvPr/>
        </p:nvSpPr>
        <p:spPr>
          <a:xfrm>
            <a:off x="7567640" y="3545287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0"/>
          <p:cNvSpPr/>
          <p:nvPr/>
        </p:nvSpPr>
        <p:spPr>
          <a:xfrm>
            <a:off x="7573132" y="3547483"/>
            <a:ext cx="5602" cy="3405"/>
          </a:xfrm>
          <a:custGeom>
            <a:rect b="b" l="l" r="r" t="t"/>
            <a:pathLst>
              <a:path extrusionOk="0" h="31" w="5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0"/>
          <p:cNvSpPr txBox="1"/>
          <p:nvPr>
            <p:ph type="title"/>
          </p:nvPr>
        </p:nvSpPr>
        <p:spPr>
          <a:xfrm>
            <a:off x="961475" y="655125"/>
            <a:ext cx="4475400" cy="10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6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7" name="Google Shape;307;p30"/>
          <p:cNvSpPr txBox="1"/>
          <p:nvPr>
            <p:ph idx="1" type="subTitle"/>
          </p:nvPr>
        </p:nvSpPr>
        <p:spPr>
          <a:xfrm>
            <a:off x="961325" y="1804950"/>
            <a:ext cx="4475400" cy="8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0"/>
          <p:cNvSpPr txBox="1"/>
          <p:nvPr/>
        </p:nvSpPr>
        <p:spPr>
          <a:xfrm>
            <a:off x="713225" y="3671050"/>
            <a:ext cx="4971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4"/>
              </a:rPr>
              <a:t>Slidesgo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" sz="1200" u="sng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5"/>
              </a:rPr>
              <a:t>Flaticon</a:t>
            </a:r>
            <a:r>
              <a:rPr b="1" lang="en" sz="1200">
                <a:solidFill>
                  <a:schemeClr val="hlink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6"/>
              </a:rPr>
              <a:t> 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and infographics &amp; images by </a:t>
            </a:r>
            <a:r>
              <a:rPr b="1" lang="en" sz="1200" u="sng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7"/>
              </a:rPr>
              <a:t>Freepik</a:t>
            </a:r>
            <a:endParaRPr b="1" sz="1200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"/>
          <p:cNvSpPr/>
          <p:nvPr/>
        </p:nvSpPr>
        <p:spPr>
          <a:xfrm>
            <a:off x="1339719" y="3344908"/>
            <a:ext cx="2416" cy="1208"/>
          </a:xfrm>
          <a:custGeom>
            <a:rect b="b" l="l" r="r" t="t"/>
            <a:pathLst>
              <a:path extrusionOk="0" h="11" w="22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1"/>
          <p:cNvSpPr/>
          <p:nvPr/>
        </p:nvSpPr>
        <p:spPr>
          <a:xfrm>
            <a:off x="7544343" y="3535034"/>
            <a:ext cx="22187" cy="6700"/>
          </a:xfrm>
          <a:custGeom>
            <a:rect b="b" l="l" r="r" t="t"/>
            <a:pathLst>
              <a:path extrusionOk="0" h="61" w="202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1"/>
          <p:cNvSpPr/>
          <p:nvPr/>
        </p:nvSpPr>
        <p:spPr>
          <a:xfrm>
            <a:off x="7567628" y="3541624"/>
            <a:ext cx="4503" cy="2307"/>
          </a:xfrm>
          <a:custGeom>
            <a:rect b="b" l="l" r="r" t="t"/>
            <a:pathLst>
              <a:path extrusionOk="0" h="21" w="4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31"/>
          <p:cNvPicPr preferRelativeResize="0"/>
          <p:nvPr/>
        </p:nvPicPr>
        <p:blipFill rotWithShape="1">
          <a:blip r:embed="rId2">
            <a:alphaModFix/>
          </a:blip>
          <a:srcRect b="0" l="415" r="554" t="0"/>
          <a:stretch/>
        </p:blipFill>
        <p:spPr>
          <a:xfrm flipH="1" rot="5400000">
            <a:off x="1982013" y="-1990987"/>
            <a:ext cx="5188700" cy="915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1"/>
          <p:cNvPicPr preferRelativeResize="0"/>
          <p:nvPr/>
        </p:nvPicPr>
        <p:blipFill rotWithShape="1">
          <a:blip r:embed="rId3">
            <a:alphaModFix amt="50000"/>
          </a:blip>
          <a:srcRect b="83547" l="1158" r="46640" t="0"/>
          <a:stretch/>
        </p:blipFill>
        <p:spPr>
          <a:xfrm rot="-5400000">
            <a:off x="6176613" y="2184614"/>
            <a:ext cx="5146998" cy="84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1"/>
          <p:cNvPicPr preferRelativeResize="0"/>
          <p:nvPr/>
        </p:nvPicPr>
        <p:blipFill rotWithShape="1">
          <a:blip r:embed="rId3">
            <a:alphaModFix amt="50000"/>
          </a:blip>
          <a:srcRect b="83547" l="1158" r="46640" t="0"/>
          <a:stretch/>
        </p:blipFill>
        <p:spPr>
          <a:xfrm flipH="1" rot="5400000">
            <a:off x="-2149887" y="2184614"/>
            <a:ext cx="5146998" cy="84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32"/>
          <p:cNvPicPr preferRelativeResize="0"/>
          <p:nvPr/>
        </p:nvPicPr>
        <p:blipFill rotWithShape="1">
          <a:blip r:embed="rId2">
            <a:alphaModFix/>
          </a:blip>
          <a:srcRect b="0" l="391" r="68546" t="0"/>
          <a:stretch/>
        </p:blipFill>
        <p:spPr>
          <a:xfrm rot="5400000">
            <a:off x="1981124" y="-1997549"/>
            <a:ext cx="5181752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2"/>
          <p:cNvPicPr preferRelativeResize="0"/>
          <p:nvPr/>
        </p:nvPicPr>
        <p:blipFill rotWithShape="1">
          <a:blip r:embed="rId3">
            <a:alphaModFix amt="50000"/>
          </a:blip>
          <a:srcRect b="-125054" l="10399" r="28318" t="7568"/>
          <a:stretch/>
        </p:blipFill>
        <p:spPr>
          <a:xfrm rot="5400000">
            <a:off x="2002938" y="-2000238"/>
            <a:ext cx="5138125" cy="9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 ExtraBold"/>
              <a:buNone/>
              <a:defRPr sz="3500">
                <a:solidFill>
                  <a:schemeClr val="dk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 ExtraBold"/>
              <a:buNone/>
              <a:defRPr sz="3500">
                <a:solidFill>
                  <a:schemeClr val="dk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 ExtraBold"/>
              <a:buNone/>
              <a:defRPr sz="3500">
                <a:solidFill>
                  <a:schemeClr val="dk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 ExtraBold"/>
              <a:buNone/>
              <a:defRPr sz="3500">
                <a:solidFill>
                  <a:schemeClr val="dk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 ExtraBold"/>
              <a:buNone/>
              <a:defRPr sz="3500">
                <a:solidFill>
                  <a:schemeClr val="dk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 ExtraBold"/>
              <a:buNone/>
              <a:defRPr sz="3500">
                <a:solidFill>
                  <a:schemeClr val="dk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 ExtraBold"/>
              <a:buNone/>
              <a:defRPr sz="3500">
                <a:solidFill>
                  <a:schemeClr val="dk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 ExtraBold"/>
              <a:buNone/>
              <a:defRPr sz="3500">
                <a:solidFill>
                  <a:schemeClr val="dk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 ExtraBold"/>
              <a:buNone/>
              <a:defRPr sz="3500">
                <a:solidFill>
                  <a:schemeClr val="dk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"/>
          <p:cNvSpPr txBox="1"/>
          <p:nvPr>
            <p:ph idx="1" type="subTitle"/>
          </p:nvPr>
        </p:nvSpPr>
        <p:spPr>
          <a:xfrm>
            <a:off x="1958400" y="2673400"/>
            <a:ext cx="5227200" cy="5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Scénarios énergétiques de l’IA à l’horizon 2029</a:t>
            </a:r>
            <a:endParaRPr/>
          </a:p>
        </p:txBody>
      </p:sp>
      <p:sp>
        <p:nvSpPr>
          <p:cNvPr id="324" name="Google Shape;324;p33"/>
          <p:cNvSpPr txBox="1"/>
          <p:nvPr>
            <p:ph type="ctrTitle"/>
          </p:nvPr>
        </p:nvSpPr>
        <p:spPr>
          <a:xfrm>
            <a:off x="1958400" y="859400"/>
            <a:ext cx="5227200" cy="158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Energy Wall</a:t>
            </a:r>
            <a:endParaRPr/>
          </a:p>
        </p:txBody>
      </p:sp>
      <p:pic>
        <p:nvPicPr>
          <p:cNvPr id="325" name="Google Shape;325;p33" title="original.png"/>
          <p:cNvPicPr preferRelativeResize="0"/>
          <p:nvPr/>
        </p:nvPicPr>
        <p:blipFill rotWithShape="1">
          <a:blip r:embed="rId3">
            <a:alphaModFix/>
          </a:blip>
          <a:srcRect b="32632" l="0" r="0" t="0"/>
          <a:stretch/>
        </p:blipFill>
        <p:spPr>
          <a:xfrm>
            <a:off x="3450338" y="4549475"/>
            <a:ext cx="2243325" cy="2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 txBox="1"/>
          <p:nvPr/>
        </p:nvSpPr>
        <p:spPr>
          <a:xfrm>
            <a:off x="1958400" y="3444600"/>
            <a:ext cx="5625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Tanjona R 							Skander 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99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5"/>
          <p:cNvSpPr txBox="1"/>
          <p:nvPr>
            <p:ph type="title"/>
          </p:nvPr>
        </p:nvSpPr>
        <p:spPr>
          <a:xfrm>
            <a:off x="1021075" y="445025"/>
            <a:ext cx="683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37" name="Google Shape;337;p35"/>
          <p:cNvSpPr txBox="1"/>
          <p:nvPr>
            <p:ph idx="1" type="subTitle"/>
          </p:nvPr>
        </p:nvSpPr>
        <p:spPr>
          <a:xfrm flipH="1">
            <a:off x="2506938" y="3363975"/>
            <a:ext cx="5532000" cy="3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upture basé sur l'IA frugale</a:t>
            </a:r>
            <a:endParaRPr/>
          </a:p>
        </p:txBody>
      </p:sp>
      <p:sp>
        <p:nvSpPr>
          <p:cNvPr id="338" name="Google Shape;338;p35"/>
          <p:cNvSpPr txBox="1"/>
          <p:nvPr>
            <p:ph idx="2" type="subTitle"/>
          </p:nvPr>
        </p:nvSpPr>
        <p:spPr>
          <a:xfrm>
            <a:off x="2506938" y="1628575"/>
            <a:ext cx="5532000" cy="3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 nous laissons faire les choses tel quel</a:t>
            </a:r>
            <a:endParaRPr/>
          </a:p>
        </p:txBody>
      </p:sp>
      <p:sp>
        <p:nvSpPr>
          <p:cNvPr id="339" name="Google Shape;339;p35"/>
          <p:cNvSpPr txBox="1"/>
          <p:nvPr>
            <p:ph idx="5" type="title"/>
          </p:nvPr>
        </p:nvSpPr>
        <p:spPr>
          <a:xfrm flipH="1">
            <a:off x="1104937" y="3014425"/>
            <a:ext cx="1146600" cy="67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40" name="Google Shape;340;p35"/>
          <p:cNvSpPr txBox="1"/>
          <p:nvPr>
            <p:ph idx="6" type="title"/>
          </p:nvPr>
        </p:nvSpPr>
        <p:spPr>
          <a:xfrm flipH="1">
            <a:off x="1104937" y="3882125"/>
            <a:ext cx="1146600" cy="67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41" name="Google Shape;341;p35"/>
          <p:cNvSpPr txBox="1"/>
          <p:nvPr>
            <p:ph idx="7" type="title"/>
          </p:nvPr>
        </p:nvSpPr>
        <p:spPr>
          <a:xfrm>
            <a:off x="1104962" y="1279025"/>
            <a:ext cx="1146600" cy="67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42" name="Google Shape;342;p35"/>
          <p:cNvSpPr txBox="1"/>
          <p:nvPr>
            <p:ph idx="15" type="subTitle"/>
          </p:nvPr>
        </p:nvSpPr>
        <p:spPr>
          <a:xfrm>
            <a:off x="2506938" y="2146725"/>
            <a:ext cx="5532000" cy="43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Scénario NORMAL</a:t>
            </a:r>
            <a:endParaRPr/>
          </a:p>
        </p:txBody>
      </p:sp>
      <p:sp>
        <p:nvSpPr>
          <p:cNvPr id="343" name="Google Shape;343;p35"/>
          <p:cNvSpPr txBox="1"/>
          <p:nvPr>
            <p:ph idx="4" type="subTitle"/>
          </p:nvPr>
        </p:nvSpPr>
        <p:spPr>
          <a:xfrm>
            <a:off x="2506938" y="2496275"/>
            <a:ext cx="5532000" cy="3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optimisations technologiques</a:t>
            </a:r>
            <a:endParaRPr/>
          </a:p>
        </p:txBody>
      </p:sp>
      <p:sp>
        <p:nvSpPr>
          <p:cNvPr id="344" name="Google Shape;344;p35"/>
          <p:cNvSpPr txBox="1"/>
          <p:nvPr>
            <p:ph idx="8" type="title"/>
          </p:nvPr>
        </p:nvSpPr>
        <p:spPr>
          <a:xfrm>
            <a:off x="1104962" y="2146725"/>
            <a:ext cx="1146600" cy="67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45" name="Google Shape;345;p35"/>
          <p:cNvSpPr txBox="1"/>
          <p:nvPr>
            <p:ph idx="9" type="subTitle"/>
          </p:nvPr>
        </p:nvSpPr>
        <p:spPr>
          <a:xfrm flipH="1">
            <a:off x="2506938" y="3014425"/>
            <a:ext cx="5532000" cy="43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Scénario IDÉAL</a:t>
            </a:r>
            <a:endParaRPr/>
          </a:p>
        </p:txBody>
      </p:sp>
      <p:sp>
        <p:nvSpPr>
          <p:cNvPr id="346" name="Google Shape;346;p35"/>
          <p:cNvSpPr txBox="1"/>
          <p:nvPr>
            <p:ph idx="13" type="subTitle"/>
          </p:nvPr>
        </p:nvSpPr>
        <p:spPr>
          <a:xfrm>
            <a:off x="2506938" y="1279025"/>
            <a:ext cx="5532000" cy="43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Scénario </a:t>
            </a:r>
            <a:r>
              <a:rPr lang="en"/>
              <a:t>APOCALYPSE</a:t>
            </a:r>
            <a:endParaRPr/>
          </a:p>
        </p:txBody>
      </p:sp>
      <p:sp>
        <p:nvSpPr>
          <p:cNvPr id="347" name="Google Shape;347;p35"/>
          <p:cNvSpPr txBox="1"/>
          <p:nvPr>
            <p:ph idx="14" type="subTitle"/>
          </p:nvPr>
        </p:nvSpPr>
        <p:spPr>
          <a:xfrm flipH="1">
            <a:off x="2506938" y="4000925"/>
            <a:ext cx="5532000" cy="43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cxnSp>
        <p:nvCxnSpPr>
          <p:cNvPr id="348" name="Google Shape;348;p35"/>
          <p:cNvCxnSpPr>
            <a:stCxn id="341" idx="1"/>
            <a:endCxn id="344" idx="1"/>
          </p:cNvCxnSpPr>
          <p:nvPr/>
        </p:nvCxnSpPr>
        <p:spPr>
          <a:xfrm>
            <a:off x="1104962" y="1616225"/>
            <a:ext cx="600" cy="8676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49" name="Google Shape;349;p35"/>
          <p:cNvCxnSpPr>
            <a:stCxn id="344" idx="1"/>
            <a:endCxn id="339" idx="3"/>
          </p:cNvCxnSpPr>
          <p:nvPr/>
        </p:nvCxnSpPr>
        <p:spPr>
          <a:xfrm>
            <a:off x="1104962" y="2483925"/>
            <a:ext cx="600" cy="867600"/>
          </a:xfrm>
          <a:prstGeom prst="curvedConnector3">
            <a:avLst>
              <a:gd fmla="val -396916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50" name="Google Shape;350;p35"/>
          <p:cNvCxnSpPr>
            <a:stCxn id="339" idx="3"/>
            <a:endCxn id="340" idx="3"/>
          </p:cNvCxnSpPr>
          <p:nvPr/>
        </p:nvCxnSpPr>
        <p:spPr>
          <a:xfrm>
            <a:off x="1104937" y="3351625"/>
            <a:ext cx="600" cy="8676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 txBox="1"/>
          <p:nvPr>
            <p:ph type="title"/>
          </p:nvPr>
        </p:nvSpPr>
        <p:spPr>
          <a:xfrm>
            <a:off x="713225" y="2347250"/>
            <a:ext cx="6487800" cy="130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Apocalypse</a:t>
            </a:r>
            <a:endParaRPr/>
          </a:p>
        </p:txBody>
      </p:sp>
      <p:sp>
        <p:nvSpPr>
          <p:cNvPr id="356" name="Google Shape;356;p36"/>
          <p:cNvSpPr txBox="1"/>
          <p:nvPr>
            <p:ph idx="2" type="title"/>
          </p:nvPr>
        </p:nvSpPr>
        <p:spPr>
          <a:xfrm>
            <a:off x="713225" y="802175"/>
            <a:ext cx="1775400" cy="123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57" name="Google Shape;357;p36"/>
          <p:cNvSpPr txBox="1"/>
          <p:nvPr>
            <p:ph idx="1" type="subTitle"/>
          </p:nvPr>
        </p:nvSpPr>
        <p:spPr>
          <a:xfrm>
            <a:off x="713225" y="3960700"/>
            <a:ext cx="4370700" cy="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 se passe t il actuellement?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"/>
          <p:cNvSpPr txBox="1"/>
          <p:nvPr>
            <p:ph type="title"/>
          </p:nvPr>
        </p:nvSpPr>
        <p:spPr>
          <a:xfrm>
            <a:off x="1477300" y="445025"/>
            <a:ext cx="61893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Que se passe t il  actuellement?</a:t>
            </a:r>
            <a:endParaRPr sz="3000"/>
          </a:p>
        </p:txBody>
      </p:sp>
      <p:pic>
        <p:nvPicPr>
          <p:cNvPr id="363" name="Google Shape;363;p37" title="explosion_recherche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100" y="1142650"/>
            <a:ext cx="7504574" cy="3708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8"/>
          <p:cNvSpPr txBox="1"/>
          <p:nvPr>
            <p:ph type="title"/>
          </p:nvPr>
        </p:nvSpPr>
        <p:spPr>
          <a:xfrm>
            <a:off x="1477350" y="303650"/>
            <a:ext cx="6189300" cy="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Que se passe t il  actuellement?</a:t>
            </a:r>
            <a:endParaRPr sz="3000"/>
          </a:p>
        </p:txBody>
      </p:sp>
      <p:pic>
        <p:nvPicPr>
          <p:cNvPr id="369" name="Google Shape;36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1725" y="983150"/>
            <a:ext cx="6820541" cy="395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9"/>
          <p:cNvSpPr txBox="1"/>
          <p:nvPr>
            <p:ph type="title"/>
          </p:nvPr>
        </p:nvSpPr>
        <p:spPr>
          <a:xfrm>
            <a:off x="142950" y="238913"/>
            <a:ext cx="88581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La croissance du calcul dépasse la 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loi de Moore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id="375" name="Google Shape;37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900" y="1392725"/>
            <a:ext cx="5714474" cy="3146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9"/>
          <p:cNvSpPr txBox="1"/>
          <p:nvPr/>
        </p:nvSpPr>
        <p:spPr>
          <a:xfrm>
            <a:off x="6252675" y="1392725"/>
            <a:ext cx="2644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Le compute d’entraînement double ~tous les 11 mois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La loi de Moore double tous les 24 mois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Décrochage structurel entre demande et progrès matériel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0"/>
          <p:cNvSpPr txBox="1"/>
          <p:nvPr>
            <p:ph type="title"/>
          </p:nvPr>
        </p:nvSpPr>
        <p:spPr>
          <a:xfrm>
            <a:off x="142950" y="238913"/>
            <a:ext cx="88581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Emission de CO2 (entrainement)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id="382" name="Google Shape;382;p40" title="part1_CO2_Lithium.png"/>
          <p:cNvPicPr preferRelativeResize="0"/>
          <p:nvPr/>
        </p:nvPicPr>
        <p:blipFill rotWithShape="1">
          <a:blip r:embed="rId3">
            <a:alphaModFix/>
          </a:blip>
          <a:srcRect b="0" l="0" r="50000" t="0"/>
          <a:stretch/>
        </p:blipFill>
        <p:spPr>
          <a:xfrm>
            <a:off x="4069200" y="1102850"/>
            <a:ext cx="4624149" cy="3420742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0"/>
          <p:cNvSpPr txBox="1"/>
          <p:nvPr/>
        </p:nvSpPr>
        <p:spPr>
          <a:xfrm>
            <a:off x="217500" y="1026725"/>
            <a:ext cx="3851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Entraînement des modèles = explosion des émissions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GPT-4 / Gemini = saut d’ordre de grandeur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Le coût énergétique devient dominant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1"/>
          <p:cNvSpPr txBox="1"/>
          <p:nvPr>
            <p:ph type="title"/>
          </p:nvPr>
        </p:nvSpPr>
        <p:spPr>
          <a:xfrm>
            <a:off x="142950" y="238913"/>
            <a:ext cx="88581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Evolution émission de CO2 mondial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389" name="Google Shape;389;p41"/>
          <p:cNvSpPr txBox="1"/>
          <p:nvPr/>
        </p:nvSpPr>
        <p:spPr>
          <a:xfrm>
            <a:off x="1968250" y="4404600"/>
            <a:ext cx="538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L’IA ajoute une pression structurelle supplémentaire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Aucun budget carbone prévu pour le numérique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390" name="Google Shape;390;p41"/>
          <p:cNvPicPr preferRelativeResize="0"/>
          <p:nvPr/>
        </p:nvPicPr>
        <p:blipFill rotWithShape="1">
          <a:blip r:embed="rId3">
            <a:alphaModFix/>
          </a:blip>
          <a:srcRect b="13322" l="10765" r="8537" t="3205"/>
          <a:stretch/>
        </p:blipFill>
        <p:spPr>
          <a:xfrm>
            <a:off x="1669025" y="1026725"/>
            <a:ext cx="5805952" cy="337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2"/>
          <p:cNvSpPr txBox="1"/>
          <p:nvPr>
            <p:ph type="title"/>
          </p:nvPr>
        </p:nvSpPr>
        <p:spPr>
          <a:xfrm>
            <a:off x="142950" y="238913"/>
            <a:ext cx="88581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Evolution émission de CO2 mondial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396" name="Google Shape;396;p42"/>
          <p:cNvSpPr txBox="1"/>
          <p:nvPr/>
        </p:nvSpPr>
        <p:spPr>
          <a:xfrm>
            <a:off x="1968250" y="4404600"/>
            <a:ext cx="538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L’IA ajoute une pression structurelle supplémentaire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Aucun budget carbone prévu pour le numérique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397" name="Google Shape;397;p42" title="frame_0040.png"/>
          <p:cNvPicPr preferRelativeResize="0"/>
          <p:nvPr/>
        </p:nvPicPr>
        <p:blipFill rotWithShape="1">
          <a:blip r:embed="rId3">
            <a:alphaModFix/>
          </a:blip>
          <a:srcRect b="12168" l="10325" r="11805" t="2978"/>
          <a:stretch/>
        </p:blipFill>
        <p:spPr>
          <a:xfrm>
            <a:off x="1686588" y="802975"/>
            <a:ext cx="5770828" cy="353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3"/>
          <p:cNvSpPr txBox="1"/>
          <p:nvPr>
            <p:ph type="title"/>
          </p:nvPr>
        </p:nvSpPr>
        <p:spPr>
          <a:xfrm>
            <a:off x="142950" y="238913"/>
            <a:ext cx="88581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 Le choc électrique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403" name="Google Shape;403;p43"/>
          <p:cNvSpPr txBox="1"/>
          <p:nvPr/>
        </p:nvSpPr>
        <p:spPr>
          <a:xfrm>
            <a:off x="282725" y="859075"/>
            <a:ext cx="3721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L’IA devient un acteur majeur de la demande électrique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404" name="Google Shape;40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4850" y="1287500"/>
            <a:ext cx="6216199" cy="332752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3"/>
          <p:cNvSpPr txBox="1"/>
          <p:nvPr/>
        </p:nvSpPr>
        <p:spPr>
          <a:xfrm>
            <a:off x="282725" y="1707250"/>
            <a:ext cx="27315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Forte hausse de la consommation des data centers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Part IA générative en croissance rapide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Autres usages électriques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4"/>
          <p:cNvSpPr txBox="1"/>
          <p:nvPr>
            <p:ph type="title"/>
          </p:nvPr>
        </p:nvSpPr>
        <p:spPr>
          <a:xfrm>
            <a:off x="142950" y="238913"/>
            <a:ext cx="88581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 Le choc électrique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411" name="Google Shape;411;p44"/>
          <p:cNvSpPr txBox="1"/>
          <p:nvPr/>
        </p:nvSpPr>
        <p:spPr>
          <a:xfrm>
            <a:off x="282725" y="859075"/>
            <a:ext cx="5460900" cy="11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L’IA devient un acteur majeur de la demande électrique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Forte hausse de la consommation des data centers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Part IA générative en croissance rapide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Concurrence directe avec autres usages électriques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412" name="Google Shape;41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6488" y="2085175"/>
            <a:ext cx="5731037" cy="281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5"/>
          <p:cNvSpPr txBox="1"/>
          <p:nvPr>
            <p:ph type="title"/>
          </p:nvPr>
        </p:nvSpPr>
        <p:spPr>
          <a:xfrm>
            <a:off x="142950" y="238913"/>
            <a:ext cx="88581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Architecture des data centers actuels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id="418" name="Google Shape;41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100" y="1026713"/>
            <a:ext cx="4255808" cy="3811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6"/>
          <p:cNvSpPr txBox="1"/>
          <p:nvPr>
            <p:ph type="title"/>
          </p:nvPr>
        </p:nvSpPr>
        <p:spPr>
          <a:xfrm>
            <a:off x="142950" y="238913"/>
            <a:ext cx="88581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Consommation d’eau 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id="424" name="Google Shape;424;p46" title="mur_ea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50" y="1225175"/>
            <a:ext cx="8609702" cy="310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7"/>
          <p:cNvSpPr txBox="1"/>
          <p:nvPr>
            <p:ph type="title"/>
          </p:nvPr>
        </p:nvSpPr>
        <p:spPr>
          <a:xfrm>
            <a:off x="142950" y="238913"/>
            <a:ext cx="88581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Consommation des ressources minéraux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id="430" name="Google Shape;43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800" y="1214572"/>
            <a:ext cx="5756274" cy="2844876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7"/>
          <p:cNvSpPr txBox="1"/>
          <p:nvPr/>
        </p:nvSpPr>
        <p:spPr>
          <a:xfrm>
            <a:off x="6056075" y="1833000"/>
            <a:ext cx="3087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Le cuivre est indispensable aux réseaux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Offre minière plafonnée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Déficit structurel inévitable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8"/>
          <p:cNvSpPr txBox="1"/>
          <p:nvPr>
            <p:ph type="title"/>
          </p:nvPr>
        </p:nvSpPr>
        <p:spPr>
          <a:xfrm>
            <a:off x="142950" y="238913"/>
            <a:ext cx="88581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Consommation des ressources minéraux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437" name="Google Shape;437;p48"/>
          <p:cNvSpPr txBox="1"/>
          <p:nvPr/>
        </p:nvSpPr>
        <p:spPr>
          <a:xfrm>
            <a:off x="6056075" y="1833000"/>
            <a:ext cx="308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8" name="Google Shape;438;p48"/>
          <p:cNvSpPr txBox="1"/>
          <p:nvPr/>
        </p:nvSpPr>
        <p:spPr>
          <a:xfrm>
            <a:off x="706825" y="956925"/>
            <a:ext cx="605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L’IA entre en concurrence avec la transition énergétique</a:t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439" name="Google Shape;43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875" y="1513950"/>
            <a:ext cx="6894251" cy="340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9"/>
          <p:cNvSpPr txBox="1"/>
          <p:nvPr>
            <p:ph type="title"/>
          </p:nvPr>
        </p:nvSpPr>
        <p:spPr>
          <a:xfrm>
            <a:off x="142950" y="238913"/>
            <a:ext cx="88581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Synthèse scénario 1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id="445" name="Google Shape;445;p49" title="elec_conso_part1.png"/>
          <p:cNvPicPr preferRelativeResize="0"/>
          <p:nvPr/>
        </p:nvPicPr>
        <p:blipFill rotWithShape="1">
          <a:blip r:embed="rId3">
            <a:alphaModFix/>
          </a:blip>
          <a:srcRect b="0" l="-1254" r="14153" t="0"/>
          <a:stretch/>
        </p:blipFill>
        <p:spPr>
          <a:xfrm>
            <a:off x="334583" y="1026732"/>
            <a:ext cx="4038815" cy="2782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9" title="CO2_scenario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1249" y="1026731"/>
            <a:ext cx="4552823" cy="2782273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49"/>
          <p:cNvSpPr txBox="1"/>
          <p:nvPr/>
        </p:nvSpPr>
        <p:spPr>
          <a:xfrm>
            <a:off x="2225500" y="3936450"/>
            <a:ext cx="497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Demande exponentielle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Limites physiques atteintes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Arbitrages subis (blackouts, rationnement)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0"/>
          <p:cNvSpPr txBox="1"/>
          <p:nvPr>
            <p:ph type="title"/>
          </p:nvPr>
        </p:nvSpPr>
        <p:spPr>
          <a:xfrm>
            <a:off x="713225" y="2347250"/>
            <a:ext cx="6487800" cy="130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Scénario normal</a:t>
            </a:r>
            <a:endParaRPr/>
          </a:p>
        </p:txBody>
      </p:sp>
      <p:sp>
        <p:nvSpPr>
          <p:cNvPr id="453" name="Google Shape;453;p50"/>
          <p:cNvSpPr txBox="1"/>
          <p:nvPr>
            <p:ph idx="2" type="title"/>
          </p:nvPr>
        </p:nvSpPr>
        <p:spPr>
          <a:xfrm>
            <a:off x="713225" y="802175"/>
            <a:ext cx="1775400" cy="123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54" name="Google Shape;454;p50"/>
          <p:cNvSpPr txBox="1"/>
          <p:nvPr>
            <p:ph idx="1" type="subTitle"/>
          </p:nvPr>
        </p:nvSpPr>
        <p:spPr>
          <a:xfrm>
            <a:off x="713225" y="3960700"/>
            <a:ext cx="5813400" cy="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Pourquoi le système tient encore? (pour l’instant)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1"/>
          <p:cNvSpPr txBox="1"/>
          <p:nvPr>
            <p:ph type="title"/>
          </p:nvPr>
        </p:nvSpPr>
        <p:spPr>
          <a:xfrm>
            <a:off x="713225" y="445025"/>
            <a:ext cx="7085700" cy="12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Pourquoi le système tient encore pour l’instant?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460" name="Google Shape;460;p51"/>
          <p:cNvSpPr txBox="1"/>
          <p:nvPr>
            <p:ph idx="1" type="body"/>
          </p:nvPr>
        </p:nvSpPr>
        <p:spPr>
          <a:xfrm>
            <a:off x="713225" y="1905850"/>
            <a:ext cx="6226800" cy="21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Progrès technologiques réels</a:t>
            </a:r>
            <a:br>
              <a:rPr lang="en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Optimisation des modèles et des infrastructures</a:t>
            </a:r>
            <a:br>
              <a:rPr lang="en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Investissements massifs publics et privés</a:t>
            </a:r>
            <a:br>
              <a:rPr lang="en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Externalisation des coûts environnementaux</a:t>
            </a:r>
            <a:endParaRPr sz="17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2"/>
          <p:cNvSpPr txBox="1"/>
          <p:nvPr>
            <p:ph type="title"/>
          </p:nvPr>
        </p:nvSpPr>
        <p:spPr>
          <a:xfrm>
            <a:off x="1056750" y="238400"/>
            <a:ext cx="7030500" cy="5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 Rupture technologique partielle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id="466" name="Google Shape;46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975" y="1564650"/>
            <a:ext cx="5865849" cy="293947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2"/>
          <p:cNvSpPr txBox="1"/>
          <p:nvPr/>
        </p:nvSpPr>
        <p:spPr>
          <a:xfrm>
            <a:off x="299975" y="966025"/>
            <a:ext cx="5569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Des modèles plus petits, presque aussi performants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468" name="Google Shape;468;p52"/>
          <p:cNvSpPr txBox="1"/>
          <p:nvPr/>
        </p:nvSpPr>
        <p:spPr>
          <a:xfrm>
            <a:off x="6122200" y="2207450"/>
            <a:ext cx="309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Taille fortement réduite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Début de découplage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taille / performance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3"/>
          <p:cNvSpPr txBox="1"/>
          <p:nvPr>
            <p:ph type="title"/>
          </p:nvPr>
        </p:nvSpPr>
        <p:spPr>
          <a:xfrm>
            <a:off x="1056750" y="238400"/>
            <a:ext cx="7030500" cy="5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Optimisation ≠ sobriété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474" name="Google Shape;474;p53"/>
          <p:cNvSpPr txBox="1"/>
          <p:nvPr/>
        </p:nvSpPr>
        <p:spPr>
          <a:xfrm>
            <a:off x="299975" y="966025"/>
            <a:ext cx="5569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Optimiser n’empêche pas l’explosion des impacts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475" name="Google Shape;475;p53"/>
          <p:cNvSpPr txBox="1"/>
          <p:nvPr/>
        </p:nvSpPr>
        <p:spPr>
          <a:xfrm>
            <a:off x="0" y="2202300"/>
            <a:ext cx="3045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Chaque génération optimise localement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L’empreinte globale explose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Les gains sont annulés par l’échelle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476" name="Google Shape;47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2225" y="1564650"/>
            <a:ext cx="5688001" cy="281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4"/>
          <p:cNvSpPr txBox="1"/>
          <p:nvPr>
            <p:ph type="title"/>
          </p:nvPr>
        </p:nvSpPr>
        <p:spPr>
          <a:xfrm>
            <a:off x="1056750" y="238400"/>
            <a:ext cx="7030500" cy="5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Est ce qu’on peut se passer de l’IA?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id="482" name="Google Shape;48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00" y="987975"/>
            <a:ext cx="7505789" cy="376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Demande du marché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id="488" name="Google Shape;48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200" y="1515875"/>
            <a:ext cx="6078701" cy="3004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5"/>
          <p:cNvSpPr txBox="1"/>
          <p:nvPr/>
        </p:nvSpPr>
        <p:spPr>
          <a:xfrm>
            <a:off x="0" y="2207475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L’IA devient la compétence clé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Recrutements massifs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Dépendance organisationnelle croissante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bénéfices réels de l’IA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id="495" name="Google Shape;49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77" y="1496350"/>
            <a:ext cx="5302725" cy="260757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6"/>
          <p:cNvSpPr txBox="1"/>
          <p:nvPr/>
        </p:nvSpPr>
        <p:spPr>
          <a:xfrm>
            <a:off x="5937300" y="211005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Accélération massive de la recherche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Progrès scientifiques majeurs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Bénéfices sociétaux réels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7"/>
          <p:cNvSpPr txBox="1"/>
          <p:nvPr>
            <p:ph type="title"/>
          </p:nvPr>
        </p:nvSpPr>
        <p:spPr>
          <a:xfrm>
            <a:off x="1056750" y="238400"/>
            <a:ext cx="7030500" cy="5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L’inertie financière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id="502" name="Google Shape;50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625" y="1412025"/>
            <a:ext cx="6071625" cy="3007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57"/>
          <p:cNvSpPr txBox="1"/>
          <p:nvPr/>
        </p:nvSpPr>
        <p:spPr>
          <a:xfrm>
            <a:off x="391625" y="882063"/>
            <a:ext cx="483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Dépendance stratégique des États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04" name="Google Shape;504;p57"/>
          <p:cNvSpPr txBox="1"/>
          <p:nvPr/>
        </p:nvSpPr>
        <p:spPr>
          <a:xfrm>
            <a:off x="6463250" y="2019800"/>
            <a:ext cx="2553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Investissements publics massifs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Compétition internationale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Renoncement impossible sans perte de souveraineté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TOO BIG TO FAIL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8"/>
          <p:cNvSpPr txBox="1"/>
          <p:nvPr>
            <p:ph type="title"/>
          </p:nvPr>
        </p:nvSpPr>
        <p:spPr>
          <a:xfrm>
            <a:off x="142950" y="238913"/>
            <a:ext cx="88581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Résultat insuffisant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id="510" name="Google Shape;510;p58" title="elec_conso_part2.png"/>
          <p:cNvPicPr preferRelativeResize="0"/>
          <p:nvPr/>
        </p:nvPicPr>
        <p:blipFill rotWithShape="1">
          <a:blip r:embed="rId3">
            <a:alphaModFix/>
          </a:blip>
          <a:srcRect b="0" l="0" r="12899" t="0"/>
          <a:stretch/>
        </p:blipFill>
        <p:spPr>
          <a:xfrm>
            <a:off x="334583" y="1026732"/>
            <a:ext cx="4038815" cy="2782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58" title="CO2_scenario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1249" y="1026731"/>
            <a:ext cx="4552826" cy="2782273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58"/>
          <p:cNvSpPr txBox="1"/>
          <p:nvPr/>
        </p:nvSpPr>
        <p:spPr>
          <a:xfrm>
            <a:off x="2225500" y="3936450"/>
            <a:ext cx="497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Un scénario stable… mais climatiquement insuffisant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Contrainte énergétique présent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9"/>
          <p:cNvSpPr txBox="1"/>
          <p:nvPr>
            <p:ph type="title"/>
          </p:nvPr>
        </p:nvSpPr>
        <p:spPr>
          <a:xfrm>
            <a:off x="713225" y="2347250"/>
            <a:ext cx="6487800" cy="130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Scénario idéal</a:t>
            </a:r>
            <a:endParaRPr/>
          </a:p>
        </p:txBody>
      </p:sp>
      <p:sp>
        <p:nvSpPr>
          <p:cNvPr id="518" name="Google Shape;518;p59"/>
          <p:cNvSpPr txBox="1"/>
          <p:nvPr>
            <p:ph idx="2" type="title"/>
          </p:nvPr>
        </p:nvSpPr>
        <p:spPr>
          <a:xfrm>
            <a:off x="713225" y="802175"/>
            <a:ext cx="1775400" cy="123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19" name="Google Shape;519;p59"/>
          <p:cNvSpPr txBox="1"/>
          <p:nvPr>
            <p:ph idx="1" type="subTitle"/>
          </p:nvPr>
        </p:nvSpPr>
        <p:spPr>
          <a:xfrm>
            <a:off x="713225" y="3960700"/>
            <a:ext cx="5813400" cy="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Optimiser ou transformer ?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0"/>
          <p:cNvSpPr txBox="1"/>
          <p:nvPr>
            <p:ph type="title"/>
          </p:nvPr>
        </p:nvSpPr>
        <p:spPr>
          <a:xfrm>
            <a:off x="713225" y="445025"/>
            <a:ext cx="7085700" cy="12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 Zero : la seule trajectoire compatible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25" name="Google Shape;525;p60"/>
          <p:cNvSpPr txBox="1"/>
          <p:nvPr>
            <p:ph idx="1" type="body"/>
          </p:nvPr>
        </p:nvSpPr>
        <p:spPr>
          <a:xfrm>
            <a:off x="713225" y="1905850"/>
            <a:ext cx="6226800" cy="21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Les trajectoires actuelles ne réduisent pas assez les émissions</a:t>
            </a:r>
            <a:br>
              <a:rPr lang="en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Le scénario Net Zero impose une rupture rapide</a:t>
            </a:r>
            <a:br>
              <a:rPr lang="en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L’IA doit s’inscrire dans ce budget carbone global</a:t>
            </a:r>
            <a:endParaRPr sz="17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1"/>
          <p:cNvSpPr txBox="1"/>
          <p:nvPr>
            <p:ph type="title"/>
          </p:nvPr>
        </p:nvSpPr>
        <p:spPr>
          <a:xfrm>
            <a:off x="1056750" y="238400"/>
            <a:ext cx="7030500" cy="5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Génération électricité actuelle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31" name="Google Shape;531;p61"/>
          <p:cNvSpPr txBox="1"/>
          <p:nvPr/>
        </p:nvSpPr>
        <p:spPr>
          <a:xfrm>
            <a:off x="391625" y="882063"/>
            <a:ext cx="483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Les data centers dépendent du mix réel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32" name="Google Shape;532;p61"/>
          <p:cNvSpPr txBox="1"/>
          <p:nvPr/>
        </p:nvSpPr>
        <p:spPr>
          <a:xfrm>
            <a:off x="6306125" y="2074175"/>
            <a:ext cx="2859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En 2024, une part significative reste </a:t>
            </a:r>
            <a:r>
              <a:rPr lang="en" sz="1200">
                <a:solidFill>
                  <a:schemeClr val="dk1"/>
                </a:solidFill>
              </a:rPr>
              <a:t>fossil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L’empreinte dépend du lieu d’implantation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Les promesses ne suffisent pas, le mix réel compte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533" name="Google Shape;53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625" y="1343763"/>
            <a:ext cx="5914510" cy="3494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2"/>
          <p:cNvSpPr txBox="1"/>
          <p:nvPr>
            <p:ph type="title"/>
          </p:nvPr>
        </p:nvSpPr>
        <p:spPr>
          <a:xfrm>
            <a:off x="1056750" y="238400"/>
            <a:ext cx="7030500" cy="5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Un mix transformé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39" name="Google Shape;539;p62"/>
          <p:cNvSpPr txBox="1"/>
          <p:nvPr/>
        </p:nvSpPr>
        <p:spPr>
          <a:xfrm>
            <a:off x="391625" y="882063"/>
            <a:ext cx="483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Ce que suppose vraiment le Net Zero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40" name="Google Shape;540;p62"/>
          <p:cNvSpPr txBox="1"/>
          <p:nvPr/>
        </p:nvSpPr>
        <p:spPr>
          <a:xfrm>
            <a:off x="6132125" y="2095925"/>
            <a:ext cx="2859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Forte montée des renouvelables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Maintien ou retour du nucléaire selon régions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Besoin massif de flexibilité et de stockage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541" name="Google Shape;54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625" y="1496175"/>
            <a:ext cx="5675274" cy="3353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3"/>
          <p:cNvSpPr txBox="1"/>
          <p:nvPr>
            <p:ph type="title"/>
          </p:nvPr>
        </p:nvSpPr>
        <p:spPr>
          <a:xfrm>
            <a:off x="1056750" y="238400"/>
            <a:ext cx="7030500" cy="5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Electricity generation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47" name="Google Shape;547;p63"/>
          <p:cNvSpPr txBox="1"/>
          <p:nvPr/>
        </p:nvSpPr>
        <p:spPr>
          <a:xfrm>
            <a:off x="391625" y="882063"/>
            <a:ext cx="483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Ce que suppose vraiment le Net Zero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48" name="Google Shape;548;p63"/>
          <p:cNvSpPr txBox="1"/>
          <p:nvPr/>
        </p:nvSpPr>
        <p:spPr>
          <a:xfrm>
            <a:off x="206775" y="1925250"/>
            <a:ext cx="3036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La demande électrique mondiale continue d’augmenter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Le numérique et l’IA ajoutent une pression structurelle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Le problème se déplace du carbone vers l’électricité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549" name="Google Shape;54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4050" y="1412050"/>
            <a:ext cx="5355275" cy="321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4"/>
          <p:cNvSpPr txBox="1"/>
          <p:nvPr>
            <p:ph type="title"/>
          </p:nvPr>
        </p:nvSpPr>
        <p:spPr>
          <a:xfrm>
            <a:off x="1056750" y="238400"/>
            <a:ext cx="7030500" cy="5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Principe clé du scénario idéal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55" name="Google Shape;555;p64"/>
          <p:cNvSpPr txBox="1"/>
          <p:nvPr/>
        </p:nvSpPr>
        <p:spPr>
          <a:xfrm>
            <a:off x="391625" y="882075"/>
            <a:ext cx="738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Le data center devient un actif du système énergétique (Finlande)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56" name="Google Shape;556;p64"/>
          <p:cNvSpPr txBox="1"/>
          <p:nvPr/>
        </p:nvSpPr>
        <p:spPr>
          <a:xfrm>
            <a:off x="5751550" y="2128550"/>
            <a:ext cx="2859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Data centers connectés aux réseaux de chaleur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Réduction directe des émissions urbaines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Acceptabilité sociale renforcée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557" name="Google Shape;55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775" y="1517925"/>
            <a:ext cx="5242387" cy="349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5"/>
          <p:cNvSpPr txBox="1"/>
          <p:nvPr>
            <p:ph type="title"/>
          </p:nvPr>
        </p:nvSpPr>
        <p:spPr>
          <a:xfrm>
            <a:off x="1056750" y="238400"/>
            <a:ext cx="7030500" cy="5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Principe clé du scénario idéal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63" name="Google Shape;563;p65"/>
          <p:cNvSpPr txBox="1"/>
          <p:nvPr/>
        </p:nvSpPr>
        <p:spPr>
          <a:xfrm>
            <a:off x="391625" y="882075"/>
            <a:ext cx="738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Data centers offshore / sous-marins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64" name="Google Shape;564;p65"/>
          <p:cNvSpPr txBox="1"/>
          <p:nvPr/>
        </p:nvSpPr>
        <p:spPr>
          <a:xfrm>
            <a:off x="391625" y="1925250"/>
            <a:ext cx="3043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Refroidissement thermique plus stable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Moins de pression foncière et hydrique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Contraintes fortes : maintenance, biodiversité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565" name="Google Shape;56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1650" y="1343775"/>
            <a:ext cx="5242387" cy="349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6"/>
          <p:cNvSpPr txBox="1"/>
          <p:nvPr>
            <p:ph type="title"/>
          </p:nvPr>
        </p:nvSpPr>
        <p:spPr>
          <a:xfrm>
            <a:off x="1056750" y="238400"/>
            <a:ext cx="7030500" cy="5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Data centers spatiaux (exploratoire)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id="571" name="Google Shape;571;p66"/>
          <p:cNvPicPr preferRelativeResize="0"/>
          <p:nvPr/>
        </p:nvPicPr>
        <p:blipFill rotWithShape="1">
          <a:blip r:embed="rId3">
            <a:alphaModFix/>
          </a:blip>
          <a:srcRect b="14524" l="0" r="0" t="18786"/>
          <a:stretch/>
        </p:blipFill>
        <p:spPr>
          <a:xfrm>
            <a:off x="641675" y="1054975"/>
            <a:ext cx="7860649" cy="349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7"/>
          <p:cNvSpPr txBox="1"/>
          <p:nvPr>
            <p:ph type="title"/>
          </p:nvPr>
        </p:nvSpPr>
        <p:spPr>
          <a:xfrm>
            <a:off x="1056750" y="238400"/>
            <a:ext cx="7030500" cy="5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Data centers spatiaux (exploratoire)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graphicFrame>
        <p:nvGraphicFramePr>
          <p:cNvPr id="577" name="Google Shape;577;p67"/>
          <p:cNvGraphicFramePr/>
          <p:nvPr/>
        </p:nvGraphicFramePr>
        <p:xfrm>
          <a:off x="376238" y="10115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{A1E34720-A6A5-43E9-A703-15E4663B0DA9}</a:tableStyleId>
              </a:tblPr>
              <a:tblGrid>
                <a:gridCol w="1924050"/>
                <a:gridCol w="2247900"/>
                <a:gridCol w="2314575"/>
                <a:gridCol w="1905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Critère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Data centers terrestres (optimisés)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Data centers sous-marins / offshore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Data centers spatiaux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Accès à l’électricité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Dépend du mix local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Dépend du réseau côtier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🟢 Solaire continu (théorique)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Refroidissement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🟡 Coûteux (air/eau)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🟢 Stable (eau froide)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🟢 Vide spatial (théorique)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Consommation d’eau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🔴 Élevée (selon techno)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🟢 Très faible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🟢 Nulle localement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Maintenance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🟢 Facile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🔴 Complexe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🔴🔴 Très complexe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Coûts d’investissement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🟡 Élevés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🔴 Très élevés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🔴🔴🔴 Extrêmes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Risques opérationnels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🟡 Gérés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🟡 Environnement marin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🔴 Radiation, débris, pannes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8"/>
          <p:cNvSpPr txBox="1"/>
          <p:nvPr>
            <p:ph type="title"/>
          </p:nvPr>
        </p:nvSpPr>
        <p:spPr>
          <a:xfrm>
            <a:off x="142950" y="238913"/>
            <a:ext cx="88581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Résultat des innovations</a:t>
            </a:r>
            <a:endParaRPr sz="30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id="583" name="Google Shape;583;p68" title="elec_conso_part3.png"/>
          <p:cNvPicPr preferRelativeResize="0"/>
          <p:nvPr/>
        </p:nvPicPr>
        <p:blipFill rotWithShape="1">
          <a:blip r:embed="rId3">
            <a:alphaModFix/>
          </a:blip>
          <a:srcRect b="0" l="0" r="14537" t="0"/>
          <a:stretch/>
        </p:blipFill>
        <p:spPr>
          <a:xfrm>
            <a:off x="334575" y="1026725"/>
            <a:ext cx="3962900" cy="278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68" title="CO2_scenario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9969" y="1026731"/>
            <a:ext cx="4552826" cy="2782273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68"/>
          <p:cNvSpPr txBox="1"/>
          <p:nvPr/>
        </p:nvSpPr>
        <p:spPr>
          <a:xfrm>
            <a:off x="2225500" y="3936450"/>
            <a:ext cx="4971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Décarbonation réelle du mix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Intégration territoriale des </a:t>
            </a:r>
            <a:r>
              <a:rPr lang="en">
                <a:solidFill>
                  <a:schemeClr val="dk1"/>
                </a:solidFill>
              </a:rPr>
              <a:t>d</a:t>
            </a:r>
            <a:r>
              <a:rPr lang="en">
                <a:solidFill>
                  <a:schemeClr val="dk1"/>
                </a:solidFill>
              </a:rPr>
              <a:t>ata centers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Sobriété + efficacité + gouvernance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9"/>
          <p:cNvSpPr txBox="1"/>
          <p:nvPr>
            <p:ph type="title"/>
          </p:nvPr>
        </p:nvSpPr>
        <p:spPr>
          <a:xfrm>
            <a:off x="713225" y="2347250"/>
            <a:ext cx="6487800" cy="130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Recommandation</a:t>
            </a:r>
            <a:endParaRPr/>
          </a:p>
        </p:txBody>
      </p:sp>
      <p:sp>
        <p:nvSpPr>
          <p:cNvPr id="591" name="Google Shape;591;p69"/>
          <p:cNvSpPr txBox="1"/>
          <p:nvPr>
            <p:ph idx="2" type="title"/>
          </p:nvPr>
        </p:nvSpPr>
        <p:spPr>
          <a:xfrm>
            <a:off x="713225" y="802175"/>
            <a:ext cx="1775400" cy="123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92" name="Google Shape;592;p69"/>
          <p:cNvSpPr txBox="1"/>
          <p:nvPr>
            <p:ph idx="1" type="subTitle"/>
          </p:nvPr>
        </p:nvSpPr>
        <p:spPr>
          <a:xfrm>
            <a:off x="713225" y="3960700"/>
            <a:ext cx="5813400" cy="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Décider avant que l’Energy Wall ne décide pour nous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0"/>
          <p:cNvSpPr txBox="1"/>
          <p:nvPr>
            <p:ph type="title"/>
          </p:nvPr>
        </p:nvSpPr>
        <p:spPr>
          <a:xfrm>
            <a:off x="713225" y="445025"/>
            <a:ext cx="7085700" cy="12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Recommandation 1 : Réguler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98" name="Google Shape;598;p70"/>
          <p:cNvSpPr txBox="1"/>
          <p:nvPr>
            <p:ph idx="1" type="body"/>
          </p:nvPr>
        </p:nvSpPr>
        <p:spPr>
          <a:xfrm>
            <a:off x="713225" y="1905850"/>
            <a:ext cx="6226800" cy="21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Définir des plafonds énergétiques par type d’usage IA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Prioriser les usages à forte valeur sociétale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Santé, recherche, sécurité → priorisés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Divertissement massif → encadré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Intégrer l’IA dans les budgets carbone nationaux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99" name="Google Shape;599;p70"/>
          <p:cNvSpPr txBox="1"/>
          <p:nvPr/>
        </p:nvSpPr>
        <p:spPr>
          <a:xfrm>
            <a:off x="713225" y="1229825"/>
            <a:ext cx="5833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Instaurer des plafonds de ressources pour l’IA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1"/>
          <p:cNvSpPr txBox="1"/>
          <p:nvPr>
            <p:ph type="title"/>
          </p:nvPr>
        </p:nvSpPr>
        <p:spPr>
          <a:xfrm>
            <a:off x="713225" y="445025"/>
            <a:ext cx="7085700" cy="12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Recommandation </a:t>
            </a:r>
            <a:r>
              <a:rPr lang="en"/>
              <a:t>2 : Investir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605" name="Google Shape;605;p71"/>
          <p:cNvSpPr txBox="1"/>
          <p:nvPr>
            <p:ph idx="1" type="body"/>
          </p:nvPr>
        </p:nvSpPr>
        <p:spPr>
          <a:xfrm>
            <a:off x="713225" y="1905850"/>
            <a:ext cx="6226800" cy="21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Récupération obligatoire de la chaleur fatale (Data centers urbains)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Intégration aux réseaux urbains et industriels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Refroidissement bas carbone (Data centers sous-marins / offshore)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71"/>
          <p:cNvSpPr txBox="1"/>
          <p:nvPr/>
        </p:nvSpPr>
        <p:spPr>
          <a:xfrm>
            <a:off x="713225" y="1229825"/>
            <a:ext cx="5833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Des data centers compatibles Net Zero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2"/>
          <p:cNvSpPr txBox="1"/>
          <p:nvPr>
            <p:ph type="title"/>
          </p:nvPr>
        </p:nvSpPr>
        <p:spPr>
          <a:xfrm>
            <a:off x="713225" y="445025"/>
            <a:ext cx="7085700" cy="12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Recommandation 3 : Orienter l’innovation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612" name="Google Shape;612;p72"/>
          <p:cNvSpPr txBox="1"/>
          <p:nvPr>
            <p:ph idx="1" type="body"/>
          </p:nvPr>
        </p:nvSpPr>
        <p:spPr>
          <a:xfrm>
            <a:off x="713225" y="2222175"/>
            <a:ext cx="6226800" cy="21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Indicateurs clairs (énergie par entraînement, CO₂ par requête, eau consommée)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Classement simple (A / B / C)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Déplacer la compétition de la taille vers l’efficience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Favoriser modèles spécialisés et sobres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3"/>
          <p:cNvSpPr txBox="1"/>
          <p:nvPr>
            <p:ph type="title"/>
          </p:nvPr>
        </p:nvSpPr>
        <p:spPr>
          <a:xfrm>
            <a:off x="670800" y="1956150"/>
            <a:ext cx="7802400" cy="12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Quel prix </a:t>
            </a:r>
            <a:r>
              <a:rPr lang="en"/>
              <a:t>sommes-nous prêts à payer pour l’IA?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rce, Motion, and Energy - Science - 10th Grade by Slidesgo">
  <a:themeElements>
    <a:clrScheme name="Simple Light">
      <a:dk1>
        <a:srgbClr val="FFFFFF"/>
      </a:dk1>
      <a:lt1>
        <a:srgbClr val="0F2A29"/>
      </a:lt1>
      <a:dk2>
        <a:srgbClr val="017171"/>
      </a:dk2>
      <a:lt2>
        <a:srgbClr val="00AEAD"/>
      </a:lt2>
      <a:accent1>
        <a:srgbClr val="11EBEB"/>
      </a:accent1>
      <a:accent2>
        <a:srgbClr val="ABE9E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